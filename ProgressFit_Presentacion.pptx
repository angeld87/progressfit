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56" r:id="rId3"/>
    <p:sldId id="257" r:id="rId5"/>
    <p:sldId id="258" r:id="rId6"/>
    <p:sldId id="259" r:id="rId7"/>
    <p:sldId id="260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EAB55A-B1F5-4627-ACB9-9CAF6953FE02}" type="datetimeFigureOut">
              <a:rPr lang="es-ES" smtClean="0"/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36336-248E-4E59-AA31-B189D85868DF}" type="slidenum">
              <a:rPr lang="es-ES" smtClean="0"/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0" Type="http://schemas.openxmlformats.org/officeDocument/2006/relationships/notesSlide" Target="../notesSlides/notesSlide5.xml"/><Relationship Id="rId1" Type="http://schemas.openxmlformats.org/officeDocument/2006/relationships/tags" Target="../tags/tag2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94560"/>
            <a:ext cx="121615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ProgressFit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Aplicaci</a:t>
            </a:r>
            <a:r>
              <a:rPr lang="es-ES" altLang="en-US" sz="200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ó</a:t>
            </a:r>
            <a:r>
              <a:rPr lang="en-US" sz="200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web para registrar entrenamientos y seguir tu progreso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E8B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Proyecto Final 2</a:t>
            </a:r>
            <a:r>
              <a:rPr lang="es-ES" altLang="en-US" sz="1500" dirty="0">
                <a:solidFill>
                  <a:srgbClr val="6E8B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º </a:t>
            </a:r>
            <a:r>
              <a:rPr lang="en-US" sz="1500" dirty="0">
                <a:solidFill>
                  <a:srgbClr val="6E8B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DAW  ·  Curso 2025/2026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altLang="en-US" sz="1500" dirty="0">
                <a:solidFill>
                  <a:srgbClr val="9AA3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Á</a:t>
            </a:r>
            <a:r>
              <a:rPr lang="en-US" sz="1500" dirty="0">
                <a:solidFill>
                  <a:srgbClr val="9AA3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ngel David Alc</a:t>
            </a:r>
            <a:r>
              <a:rPr lang="es-ES" altLang="en-US" sz="1500" dirty="0">
                <a:solidFill>
                  <a:srgbClr val="9AA3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á</a:t>
            </a:r>
            <a:r>
              <a:rPr lang="en-US" sz="1500" dirty="0">
                <a:solidFill>
                  <a:srgbClr val="9AA3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ntara Garabito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problema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603504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Quien entrena en el gimnasio necesita llevar un control de sus ejercicios, series, repeticiones y pesos para saber si progresa.</a:t>
            </a:r>
            <a:endParaRPr lang="en-US" sz="1900" dirty="0"/>
          </a:p>
          <a:p>
            <a:pPr marL="0" indent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mayor</a:t>
            </a:r>
            <a:r>
              <a:rPr lang="es-ES" altLang="en-US" sz="19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í</a:t>
            </a:r>
            <a:r>
              <a:rPr lang="en-US" sz="19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lo apunta en una libreta de papel o en las notas del m</a:t>
            </a:r>
            <a:r>
              <a:rPr lang="es-ES" altLang="en-US" sz="19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ó</a:t>
            </a:r>
            <a:r>
              <a:rPr lang="en-US" sz="19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vil.</a:t>
            </a:r>
            <a:endParaRPr lang="en-US" sz="1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 un m</a:t>
            </a:r>
            <a:r>
              <a:rPr lang="es-ES" altLang="en-US" sz="19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</a:t>
            </a:r>
            <a:r>
              <a:rPr lang="en-US" sz="19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todo desordenado: la informaci</a:t>
            </a:r>
            <a:r>
              <a:rPr lang="es-ES" altLang="en-US" sz="19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ó</a:t>
            </a:r>
            <a:r>
              <a:rPr lang="en-US" sz="19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queda dispersa, cuesta consultar el historial y es dif</a:t>
            </a:r>
            <a:r>
              <a:rPr lang="es-ES" altLang="en-US" sz="19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í</a:t>
            </a:r>
            <a:r>
              <a:rPr lang="en-US" sz="19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cil ver de un vistazo si se est</a:t>
            </a:r>
            <a:r>
              <a:rPr lang="es-ES" altLang="en-US" sz="19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á</a:t>
            </a:r>
            <a:r>
              <a:rPr lang="en-US" sz="19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mejorando.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315200" y="1554480"/>
            <a:ext cx="4206240" cy="3657600"/>
          </a:xfrm>
          <a:prstGeom prst="roundRect">
            <a:avLst>
              <a:gd name="adj" fmla="val 3750"/>
            </a:avLst>
          </a:prstGeom>
          <a:solidFill>
            <a:srgbClr val="16213E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0" y="182880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8B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idea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589520" y="2377440"/>
            <a:ext cx="365760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Llevar ese cuaderno de entrenamiento al m</a:t>
            </a:r>
            <a:r>
              <a:rPr lang="es-ES" alt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ó</a:t>
            </a: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vil, pero convirtiendo los datos en informaci</a:t>
            </a:r>
            <a:r>
              <a:rPr lang="es-ES" alt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ó</a:t>
            </a: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</a:t>
            </a:r>
            <a:r>
              <a:rPr lang="es-ES" alt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ú</a:t>
            </a: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til: gr</a:t>
            </a:r>
            <a:r>
              <a:rPr lang="es-ES" alt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áf</a:t>
            </a: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icas y estad</a:t>
            </a:r>
            <a:r>
              <a:rPr lang="es-ES" alt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í</a:t>
            </a: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sticas que muestran si mejoras.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</a:t>
            </a:r>
            <a:r>
              <a:rPr lang="es-ES" altLang="en-US" sz="4000" b="1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</a:t>
            </a:r>
            <a:r>
              <a:rPr lang="en-US" sz="4000" b="1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es ProgressFit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Aplicaci</a:t>
            </a:r>
            <a:r>
              <a:rPr lang="es-ES" altLang="en-US" sz="18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ó</a:t>
            </a:r>
            <a:r>
              <a:rPr lang="en-US" sz="18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web full-stack para registrar entrenamientos y seguir el progreso </a:t>
            </a:r>
            <a:r>
              <a:rPr lang="es-ES" altLang="en-US" sz="18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</a:t>
            </a:r>
            <a:r>
              <a:rPr lang="en-US" sz="18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ísico.</a:t>
            </a:r>
            <a:endParaRPr lang="en-US" sz="18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640080" y="2011680"/>
            <a:ext cx="3502152" cy="1783080"/>
          </a:xfrm>
          <a:prstGeom prst="roundRect">
            <a:avLst>
              <a:gd name="adj" fmla="val 5128"/>
            </a:avLst>
          </a:prstGeom>
          <a:solidFill>
            <a:srgbClr val="1E2746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868680" y="2194560"/>
            <a:ext cx="3044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8B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Entrenamientos</a:t>
            </a:r>
            <a:endParaRPr lang="en-US" sz="18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868680" y="2697480"/>
            <a:ext cx="3044952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Crear sesiones con ejercicios, series, repeticiones, peso y RIR.</a:t>
            </a:r>
            <a:endParaRPr lang="en-US" sz="1450" dirty="0"/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4325112" y="2011680"/>
            <a:ext cx="3502152" cy="1783080"/>
          </a:xfrm>
          <a:prstGeom prst="roundRect">
            <a:avLst>
              <a:gd name="adj" fmla="val 5128"/>
            </a:avLst>
          </a:prstGeom>
          <a:solidFill>
            <a:srgbClr val="1E2746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4553712" y="2194560"/>
            <a:ext cx="3044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8B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</a:t>
            </a:r>
            <a:r>
              <a:rPr lang="es-ES" altLang="en-US" sz="1800" b="1" dirty="0">
                <a:solidFill>
                  <a:srgbClr val="6E8B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á</a:t>
            </a:r>
            <a:r>
              <a:rPr lang="en-US" sz="1800" b="1" dirty="0">
                <a:solidFill>
                  <a:srgbClr val="6E8B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logo</a:t>
            </a:r>
            <a:endParaRPr lang="en-US" sz="18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4553712" y="2697480"/>
            <a:ext cx="3044952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Ejercicios organizados por grupos musculares.</a:t>
            </a:r>
            <a:endParaRPr lang="en-US" sz="1450" dirty="0"/>
          </a:p>
        </p:txBody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8010144" y="2011680"/>
            <a:ext cx="3502152" cy="1783080"/>
          </a:xfrm>
          <a:prstGeom prst="roundRect">
            <a:avLst>
              <a:gd name="adj" fmla="val 5128"/>
            </a:avLst>
          </a:prstGeom>
          <a:solidFill>
            <a:srgbClr val="1E2746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8238744" y="2194560"/>
            <a:ext cx="3044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8B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Peso corporal</a:t>
            </a:r>
            <a:endParaRPr lang="en-US" sz="18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8238744" y="2697480"/>
            <a:ext cx="3044952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Registro del peso a lo largo del tiempo.</a:t>
            </a:r>
            <a:endParaRPr lang="en-US" sz="1450" dirty="0"/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640080" y="4023360"/>
            <a:ext cx="3502152" cy="1783080"/>
          </a:xfrm>
          <a:prstGeom prst="roundRect">
            <a:avLst>
              <a:gd name="adj" fmla="val 5128"/>
            </a:avLst>
          </a:prstGeom>
          <a:solidFill>
            <a:srgbClr val="1E2746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868680" y="4206240"/>
            <a:ext cx="3044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8B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Progreso</a:t>
            </a:r>
            <a:endParaRPr lang="en-US" sz="18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868680" y="4709160"/>
            <a:ext cx="3044952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IMC, calorías diarias recomendadas y objetivo de peso.</a:t>
            </a:r>
            <a:endParaRPr lang="en-US" sz="1450" dirty="0"/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4325112" y="4023360"/>
            <a:ext cx="3502152" cy="1783080"/>
          </a:xfrm>
          <a:prstGeom prst="roundRect">
            <a:avLst>
              <a:gd name="adj" fmla="val 5128"/>
            </a:avLst>
          </a:prstGeom>
          <a:solidFill>
            <a:srgbClr val="1E2746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4553712" y="4206240"/>
            <a:ext cx="3044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8B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Estadísticas</a:t>
            </a:r>
            <a:endParaRPr lang="en-US" sz="18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4553712" y="4709160"/>
            <a:ext cx="3044952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Gráficas de evolución: peso, fuerza, frecuencia y valoración.</a:t>
            </a:r>
            <a:endParaRPr lang="en-US" sz="1450" dirty="0"/>
          </a:p>
        </p:txBody>
      </p:sp>
      <p:sp>
        <p:nvSpPr>
          <p:cNvPr id="19" name="Shape 17"/>
          <p:cNvSpPr/>
          <p:nvPr>
            <p:custDataLst>
              <p:tags r:id="rId16"/>
            </p:custDataLst>
          </p:nvPr>
        </p:nvSpPr>
        <p:spPr>
          <a:xfrm>
            <a:off x="8010144" y="4023360"/>
            <a:ext cx="3502152" cy="1783080"/>
          </a:xfrm>
          <a:prstGeom prst="roundRect">
            <a:avLst>
              <a:gd name="adj" fmla="val 5128"/>
            </a:avLst>
          </a:prstGeom>
          <a:solidFill>
            <a:srgbClr val="1E2746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>
            <p:custDataLst>
              <p:tags r:id="rId17"/>
            </p:custDataLst>
          </p:nvPr>
        </p:nvSpPr>
        <p:spPr>
          <a:xfrm>
            <a:off x="8238744" y="4206240"/>
            <a:ext cx="3044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8B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Administración</a:t>
            </a:r>
            <a:endParaRPr lang="en-US" sz="1800" dirty="0"/>
          </a:p>
        </p:txBody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8238744" y="4709160"/>
            <a:ext cx="3044952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Gestión de usuarios, músculos y ejercicios.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Tecnologías</a:t>
            </a:r>
            <a:endParaRPr lang="en-US" sz="400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640080" y="164592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1E2746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914400" y="1920240"/>
            <a:ext cx="3017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E8B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9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914400" y="2560320"/>
            <a:ext cx="301752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+ Vite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Router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Axios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Recharts (gráficas)</a:t>
            </a:r>
            <a:endParaRPr lang="en-US" sz="1600" dirty="0"/>
          </a:p>
        </p:txBody>
      </p:sp>
      <p:sp>
        <p:nvSpPr>
          <p:cNvPr id="6" name="Shape 4"/>
          <p:cNvSpPr/>
          <p:nvPr>
            <p:custDataLst>
              <p:tags r:id="rId4"/>
            </p:custDataLst>
          </p:nvPr>
        </p:nvSpPr>
        <p:spPr>
          <a:xfrm>
            <a:off x="4434840" y="164592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1E2746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4709160" y="1920240"/>
            <a:ext cx="3017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E8B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9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4709160" y="2560320"/>
            <a:ext cx="301752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17 + Spring Boot 3.5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Security + JWT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Data JPA / Hibernate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Maven + Lombok</a:t>
            </a:r>
            <a:endParaRPr lang="en-US" sz="1600" dirty="0"/>
          </a:p>
        </p:txBody>
      </p:sp>
      <p:sp>
        <p:nvSpPr>
          <p:cNvPr id="9" name="Shape 7"/>
          <p:cNvSpPr/>
          <p:nvPr>
            <p:custDataLst>
              <p:tags r:id="rId7"/>
            </p:custDataLst>
          </p:nvPr>
        </p:nvSpPr>
        <p:spPr>
          <a:xfrm>
            <a:off x="8229600" y="164592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1E2746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>
            <a:endParaRPr lang="es-ES" altLang="en-US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8503920" y="1920240"/>
            <a:ext cx="3017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E8B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DATOS</a:t>
            </a:r>
            <a:endParaRPr lang="en-US" sz="19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8503920" y="2560320"/>
            <a:ext cx="301752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8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+ Docker Compose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Nginx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y GitHub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Arquitectura en 3 capas</a:t>
            </a:r>
            <a:endParaRPr lang="en-US" sz="400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2194560" y="1737360"/>
            <a:ext cx="7772400" cy="1097280"/>
          </a:xfrm>
          <a:prstGeom prst="roundRect">
            <a:avLst>
              <a:gd name="adj" fmla="val 8333"/>
            </a:avLst>
          </a:prstGeom>
          <a:solidFill>
            <a:srgbClr val="3153B7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2560320" y="1901952"/>
            <a:ext cx="7040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— React</a:t>
            </a:r>
            <a:endParaRPr lang="en-US" sz="19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2560320" y="2304288"/>
            <a:ext cx="7040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interfaz que ve el usuario. No tiene lógica de negocio.</a:t>
            </a:r>
            <a:endParaRPr lang="en-US" sz="145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5806440" y="2852928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n-US" sz="2200" dirty="0"/>
              <a:t>↓</a:t>
            </a:r>
            <a:endParaRPr lang="en-US" altLang="en-US" sz="2200" dirty="0"/>
          </a:p>
        </p:txBody>
      </p:sp>
      <p:sp>
        <p:nvSpPr>
          <p:cNvPr id="7" name="Shape 5"/>
          <p:cNvSpPr/>
          <p:nvPr>
            <p:custDataLst>
              <p:tags r:id="rId5"/>
            </p:custDataLst>
          </p:nvPr>
        </p:nvSpPr>
        <p:spPr>
          <a:xfrm>
            <a:off x="2194560" y="3337560"/>
            <a:ext cx="7772400" cy="1097280"/>
          </a:xfrm>
          <a:prstGeom prst="roundRect">
            <a:avLst>
              <a:gd name="adj" fmla="val 8333"/>
            </a:avLst>
          </a:prstGeom>
          <a:solidFill>
            <a:srgbClr val="2A4A9E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2560320" y="3502152"/>
            <a:ext cx="7040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— Spring Boot</a:t>
            </a:r>
            <a:endParaRPr lang="en-US" sz="19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2560320" y="3904488"/>
            <a:ext cx="7040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s-ES" altLang="en-US" sz="145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r>
              <a:rPr lang="en-US" sz="145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ógica, seguridad (JWT) y API REST. Controladores, servicios y repositorios.</a:t>
            </a:r>
            <a:endParaRPr lang="en-US" sz="145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5806440" y="4453128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n-US" sz="2200" dirty="0"/>
              <a:t>↓</a:t>
            </a:r>
            <a:endParaRPr lang="en-US" alt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194560" y="4937760"/>
            <a:ext cx="7772400" cy="1097280"/>
          </a:xfrm>
          <a:prstGeom prst="roundRect">
            <a:avLst>
              <a:gd name="adj" fmla="val 8333"/>
            </a:avLst>
          </a:prstGeom>
          <a:solidFill>
            <a:srgbClr val="1E3470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5102352"/>
            <a:ext cx="7040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de datos — MySQL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560320" y="5504688"/>
            <a:ext cx="7040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Almacena toda la información de forma persistente.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Comunicación mediante API REST (JSON) y autenticación sin estado con tokens JWT.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Pruebas y calidad</a:t>
            </a:r>
            <a:endParaRPr lang="en-US" sz="400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640080" y="18288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1E2746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914400" y="2057400"/>
            <a:ext cx="4800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E8B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Funcionales</a:t>
            </a:r>
            <a:endParaRPr lang="en-US" sz="19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914400" y="2606040"/>
            <a:ext cx="4800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Pruebas manuales de todas las funciones, casos correctos y de error.</a:t>
            </a:r>
            <a:endParaRPr lang="en-US" sz="1550" dirty="0"/>
          </a:p>
        </p:txBody>
      </p:sp>
      <p:sp>
        <p:nvSpPr>
          <p:cNvPr id="6" name="Shape 4"/>
          <p:cNvSpPr/>
          <p:nvPr>
            <p:custDataLst>
              <p:tags r:id="rId4"/>
            </p:custDataLst>
          </p:nvPr>
        </p:nvSpPr>
        <p:spPr>
          <a:xfrm>
            <a:off x="6217920" y="18288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1E2746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6492240" y="2057400"/>
            <a:ext cx="4800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E8B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Usabilidad</a:t>
            </a:r>
            <a:endParaRPr lang="en-US" sz="19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6492240" y="2606040"/>
            <a:ext cx="4800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Probada por una usuaria real; su feedback llevó a rediseñar la interfaz.</a:t>
            </a:r>
            <a:endParaRPr lang="en-US" sz="1550" dirty="0"/>
          </a:p>
        </p:txBody>
      </p:sp>
      <p:sp>
        <p:nvSpPr>
          <p:cNvPr id="9" name="Shape 7"/>
          <p:cNvSpPr/>
          <p:nvPr>
            <p:custDataLst>
              <p:tags r:id="rId7"/>
            </p:custDataLst>
          </p:nvPr>
        </p:nvSpPr>
        <p:spPr>
          <a:xfrm>
            <a:off x="640080" y="402336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1E2746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914400" y="4251960"/>
            <a:ext cx="4800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E8B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Accesibilidad</a:t>
            </a:r>
            <a:endParaRPr lang="en-US" sz="19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914400" y="4800600"/>
            <a:ext cx="4800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Lighthouse: 91/100. Mejoras detectadas en contraste y textos alternativos.</a:t>
            </a:r>
            <a:endParaRPr lang="en-US" sz="1550" dirty="0"/>
          </a:p>
        </p:txBody>
      </p:sp>
      <p:sp>
        <p:nvSpPr>
          <p:cNvPr id="12" name="Shape 10"/>
          <p:cNvSpPr/>
          <p:nvPr>
            <p:custDataLst>
              <p:tags r:id="rId10"/>
            </p:custDataLst>
          </p:nvPr>
        </p:nvSpPr>
        <p:spPr>
          <a:xfrm>
            <a:off x="6217920" y="402336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1E2746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6492240" y="4251960"/>
            <a:ext cx="4800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E8B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Seguridad</a:t>
            </a:r>
            <a:endParaRPr lang="en-US" sz="1900" dirty="0"/>
          </a:p>
        </p:txBody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6492240" y="4800600"/>
            <a:ext cx="4800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Contraseñas cifradas con BCrypt y acceso por roles con JWT.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Principales retos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algn="l">
              <a:lnSpc>
                <a:spcPct val="110000"/>
              </a:lnSpc>
              <a:buClrTx/>
              <a:buSzTx/>
              <a:buFontTx/>
              <a:buNone/>
            </a:pPr>
            <a:r>
              <a:rPr lang="en-US" sz="1700" b="1" dirty="0">
                <a:solidFill>
                  <a:srgbClr val="315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Migración a React</a:t>
            </a:r>
            <a:endParaRPr lang="en-US" sz="1700" b="1" dirty="0">
              <a:solidFill>
                <a:srgbClr val="3153B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10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Empecé con HTML, CSS y JS puro y migr</a:t>
            </a:r>
            <a:r>
              <a:rPr lang="es-ES" altLang="en-US" sz="17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</a:t>
            </a:r>
            <a:r>
              <a:rPr lang="en-US" sz="17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todo el frontend a React. Supuso rehacer la interfaz, pero el backend no cambió gracias a la arquitectura en capas.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315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Borrado lógico</a:t>
            </a:r>
            <a:endParaRPr lang="en-US" sz="1700" dirty="0"/>
          </a:p>
          <a:p>
            <a:pPr marL="0" indent="0">
              <a:lnSpc>
                <a:spcPct val="110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se pueden borrar datos con relaciones sin perder el historial; se marcan como inactivos, como en apps reales.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315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de CORS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Las peticiones se bloqueaban entre frontend y backend; se resolvió configurando los orígenes permitidos en Spring Security.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Conclusiones y futuro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789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Una aplicaci</a:t>
            </a:r>
            <a:r>
              <a:rPr lang="es-ES" altLang="en-US" sz="180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ó</a:t>
            </a:r>
            <a:r>
              <a:rPr lang="en-US" sz="1800" dirty="0">
                <a:solidFill>
                  <a:srgbClr val="D9E1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full-stack completa y funcional, desarrollada desde cero.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8B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Futuras ampliaciones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058400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Pruebas automatizadas con JUnit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 de entrenador funcional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Funciones sociales y rutinas predefinidas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Puesta en producción y app móvil (PWA)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0" y="5669280"/>
            <a:ext cx="1216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Gracias</a:t>
            </a:r>
            <a:endParaRPr lang="en-US" sz="3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8.8,&quot;left&quot;:50.4,&quot;top&quot;:158.4,&quot;width&quot;:856.0799999999999}"/>
</p:tagLst>
</file>

<file path=ppt/tags/tag2.xml><?xml version="1.0" encoding="utf-8"?>
<p:tagLst xmlns:p="http://schemas.openxmlformats.org/presentationml/2006/main">
  <p:tag name="KSO_WM_DIAGRAM_VIRTUALLY_FRAME" val="{&quot;height&quot;:298.8,&quot;left&quot;:50.4,&quot;top&quot;:158.4,&quot;width&quot;:856.0799999999999}"/>
</p:tagLst>
</file>

<file path=ppt/tags/tag3.xml><?xml version="1.0" encoding="utf-8"?>
<p:tagLst xmlns:p="http://schemas.openxmlformats.org/presentationml/2006/main">
  <p:tag name="KSO_WM_DIAGRAM_VIRTUALLY_FRAME" val="{&quot;height&quot;:298.8,&quot;left&quot;:50.4,&quot;top&quot;:158.4,&quot;width&quot;:856.0799999999999}"/>
</p:tagLst>
</file>

<file path=ppt/tags/tag4.xml><?xml version="1.0" encoding="utf-8"?>
<p:tagLst xmlns:p="http://schemas.openxmlformats.org/presentationml/2006/main">
  <p:tag name="KSO_WM_DIAGRAM_VIRTUALLY_FRAME" val="{&quot;height&quot;:298.8,&quot;left&quot;:50.4,&quot;top&quot;:158.4,&quot;width&quot;:856.0799999999999}"/>
</p:tagLst>
</file>

<file path=ppt/tags/tag5.xml><?xml version="1.0" encoding="utf-8"?>
<p:tagLst xmlns:p="http://schemas.openxmlformats.org/presentationml/2006/main">
  <p:tag name="KSO_WM_DIAGRAM_VIRTUALLY_FRAME" val="{&quot;height&quot;:298.8,&quot;left&quot;:50.4,&quot;top&quot;:158.4,&quot;width&quot;:856.0799999999999}"/>
</p:tagLst>
</file>

<file path=ppt/tags/tag6.xml><?xml version="1.0" encoding="utf-8"?>
<p:tagLst xmlns:p="http://schemas.openxmlformats.org/presentationml/2006/main">
  <p:tag name="KSO_WM_DIAGRAM_VIRTUALLY_FRAME" val="{&quot;height&quot;:298.8,&quot;left&quot;:50.4,&quot;top&quot;:158.4,&quot;width&quot;:856.0799999999999}"/>
</p:tagLst>
</file>

<file path=ppt/tags/tag7.xml><?xml version="1.0" encoding="utf-8"?>
<p:tagLst xmlns:p="http://schemas.openxmlformats.org/presentationml/2006/main">
  <p:tag name="KSO_WM_DIAGRAM_VIRTUALLY_FRAME" val="{&quot;height&quot;:298.8,&quot;left&quot;:50.4,&quot;top&quot;:158.4,&quot;width&quot;:856.0799999999999}"/>
</p:tagLst>
</file>

<file path=ppt/tags/tag8.xml><?xml version="1.0" encoding="utf-8"?>
<p:tagLst xmlns:p="http://schemas.openxmlformats.org/presentationml/2006/main">
  <p:tag name="KSO_WM_DIAGRAM_VIRTUALLY_FRAME" val="{&quot;height&quot;:298.8,&quot;left&quot;:50.4,&quot;top&quot;:158.4,&quot;width&quot;:856.0799999999999}"/>
</p:tagLst>
</file>

<file path=ppt/tags/tag9.xml><?xml version="1.0" encoding="utf-8"?>
<p:tagLst xmlns:p="http://schemas.openxmlformats.org/presentationml/2006/main">
  <p:tag name="KSO_WM_DIAGRAM_VIRTUALLY_FRAME" val="{&quot;height&quot;:298.8,&quot;left&quot;:50.4,&quot;top&quot;:158.4,&quot;width&quot;:856.0799999999999}"/>
</p:tagLst>
</file>

<file path=ppt/tags/tag10.xml><?xml version="1.0" encoding="utf-8"?>
<p:tagLst xmlns:p="http://schemas.openxmlformats.org/presentationml/2006/main">
  <p:tag name="KSO_WM_DIAGRAM_VIRTUALLY_FRAME" val="{&quot;height&quot;:298.8,&quot;left&quot;:50.4,&quot;top&quot;:158.4,&quot;width&quot;:856.0799999999999}"/>
</p:tagLst>
</file>

<file path=ppt/tags/tag11.xml><?xml version="1.0" encoding="utf-8"?>
<p:tagLst xmlns:p="http://schemas.openxmlformats.org/presentationml/2006/main">
  <p:tag name="KSO_WM_DIAGRAM_VIRTUALLY_FRAME" val="{&quot;height&quot;:298.8,&quot;left&quot;:50.4,&quot;top&quot;:158.4,&quot;width&quot;:856.0799999999999}"/>
</p:tagLst>
</file>

<file path=ppt/tags/tag12.xml><?xml version="1.0" encoding="utf-8"?>
<p:tagLst xmlns:p="http://schemas.openxmlformats.org/presentationml/2006/main">
  <p:tag name="KSO_WM_DIAGRAM_VIRTUALLY_FRAME" val="{&quot;height&quot;:298.8,&quot;left&quot;:50.4,&quot;top&quot;:158.4,&quot;width&quot;:856.0799999999999}"/>
</p:tagLst>
</file>

<file path=ppt/tags/tag13.xml><?xml version="1.0" encoding="utf-8"?>
<p:tagLst xmlns:p="http://schemas.openxmlformats.org/presentationml/2006/main">
  <p:tag name="KSO_WM_DIAGRAM_VIRTUALLY_FRAME" val="{&quot;height&quot;:298.8,&quot;left&quot;:50.4,&quot;top&quot;:158.4,&quot;width&quot;:856.0799999999999}"/>
</p:tagLst>
</file>

<file path=ppt/tags/tag14.xml><?xml version="1.0" encoding="utf-8"?>
<p:tagLst xmlns:p="http://schemas.openxmlformats.org/presentationml/2006/main">
  <p:tag name="KSO_WM_DIAGRAM_VIRTUALLY_FRAME" val="{&quot;height&quot;:298.8,&quot;left&quot;:50.4,&quot;top&quot;:158.4,&quot;width&quot;:856.0799999999999}"/>
</p:tagLst>
</file>

<file path=ppt/tags/tag15.xml><?xml version="1.0" encoding="utf-8"?>
<p:tagLst xmlns:p="http://schemas.openxmlformats.org/presentationml/2006/main">
  <p:tag name="KSO_WM_DIAGRAM_VIRTUALLY_FRAME" val="{&quot;height&quot;:298.8,&quot;left&quot;:50.4,&quot;top&quot;:158.4,&quot;width&quot;:856.0799999999999}"/>
</p:tagLst>
</file>

<file path=ppt/tags/tag16.xml><?xml version="1.0" encoding="utf-8"?>
<p:tagLst xmlns:p="http://schemas.openxmlformats.org/presentationml/2006/main">
  <p:tag name="KSO_WM_DIAGRAM_VIRTUALLY_FRAME" val="{&quot;height&quot;:298.8,&quot;left&quot;:50.4,&quot;top&quot;:158.4,&quot;width&quot;:856.0799999999999}"/>
</p:tagLst>
</file>

<file path=ppt/tags/tag17.xml><?xml version="1.0" encoding="utf-8"?>
<p:tagLst xmlns:p="http://schemas.openxmlformats.org/presentationml/2006/main">
  <p:tag name="KSO_WM_DIAGRAM_VIRTUALLY_FRAME" val="{&quot;height&quot;:298.8,&quot;left&quot;:50.4,&quot;top&quot;:158.4,&quot;width&quot;:856.0799999999999}"/>
</p:tagLst>
</file>

<file path=ppt/tags/tag18.xml><?xml version="1.0" encoding="utf-8"?>
<p:tagLst xmlns:p="http://schemas.openxmlformats.org/presentationml/2006/main">
  <p:tag name="KSO_WM_DIAGRAM_VIRTUALLY_FRAME" val="{&quot;height&quot;:298.8,&quot;left&quot;:50.4,&quot;top&quot;:158.4,&quot;width&quot;:856.0799999999999}"/>
</p:tagLst>
</file>

<file path=ppt/tags/tag19.xml><?xml version="1.0" encoding="utf-8"?>
<p:tagLst xmlns:p="http://schemas.openxmlformats.org/presentationml/2006/main">
  <p:tag name="KSO_WM_DIAGRAM_VIRTUALLY_FRAME" val="{&quot;height&quot;:331.2,&quot;left&quot;:50.4,&quot;top&quot;:129.6,&quot;width&quot;:878.4}"/>
</p:tagLst>
</file>

<file path=ppt/tags/tag20.xml><?xml version="1.0" encoding="utf-8"?>
<p:tagLst xmlns:p="http://schemas.openxmlformats.org/presentationml/2006/main">
  <p:tag name="KSO_WM_DIAGRAM_VIRTUALLY_FRAME" val="{&quot;height&quot;:331.2,&quot;left&quot;:50.4,&quot;top&quot;:129.6,&quot;width&quot;:878.4}"/>
</p:tagLst>
</file>

<file path=ppt/tags/tag21.xml><?xml version="1.0" encoding="utf-8"?>
<p:tagLst xmlns:p="http://schemas.openxmlformats.org/presentationml/2006/main">
  <p:tag name="KSO_WM_DIAGRAM_VIRTUALLY_FRAME" val="{&quot;height&quot;:331.2,&quot;left&quot;:50.4,&quot;top&quot;:129.6,&quot;width&quot;:878.4}"/>
</p:tagLst>
</file>

<file path=ppt/tags/tag22.xml><?xml version="1.0" encoding="utf-8"?>
<p:tagLst xmlns:p="http://schemas.openxmlformats.org/presentationml/2006/main">
  <p:tag name="KSO_WM_DIAGRAM_VIRTUALLY_FRAME" val="{&quot;height&quot;:331.2,&quot;left&quot;:50.4,&quot;top&quot;:129.6,&quot;width&quot;:878.4}"/>
</p:tagLst>
</file>

<file path=ppt/tags/tag23.xml><?xml version="1.0" encoding="utf-8"?>
<p:tagLst xmlns:p="http://schemas.openxmlformats.org/presentationml/2006/main">
  <p:tag name="KSO_WM_DIAGRAM_VIRTUALLY_FRAME" val="{&quot;height&quot;:331.2,&quot;left&quot;:50.4,&quot;top&quot;:129.6,&quot;width&quot;:878.4}"/>
</p:tagLst>
</file>

<file path=ppt/tags/tag24.xml><?xml version="1.0" encoding="utf-8"?>
<p:tagLst xmlns:p="http://schemas.openxmlformats.org/presentationml/2006/main">
  <p:tag name="KSO_WM_DIAGRAM_VIRTUALLY_FRAME" val="{&quot;height&quot;:331.2,&quot;left&quot;:50.4,&quot;top&quot;:129.6,&quot;width&quot;:878.4}"/>
</p:tagLst>
</file>

<file path=ppt/tags/tag25.xml><?xml version="1.0" encoding="utf-8"?>
<p:tagLst xmlns:p="http://schemas.openxmlformats.org/presentationml/2006/main">
  <p:tag name="KSO_WM_DIAGRAM_VIRTUALLY_FRAME" val="{&quot;height&quot;:331.2,&quot;left&quot;:50.4,&quot;top&quot;:129.6,&quot;width&quot;:878.4}"/>
</p:tagLst>
</file>

<file path=ppt/tags/tag26.xml><?xml version="1.0" encoding="utf-8"?>
<p:tagLst xmlns:p="http://schemas.openxmlformats.org/presentationml/2006/main">
  <p:tag name="KSO_WM_DIAGRAM_VIRTUALLY_FRAME" val="{&quot;height&quot;:331.2,&quot;left&quot;:50.4,&quot;top&quot;:129.6,&quot;width&quot;:878.4}"/>
</p:tagLst>
</file>

<file path=ppt/tags/tag27.xml><?xml version="1.0" encoding="utf-8"?>
<p:tagLst xmlns:p="http://schemas.openxmlformats.org/presentationml/2006/main">
  <p:tag name="KSO_WM_DIAGRAM_VIRTUALLY_FRAME" val="{&quot;height&quot;:331.2,&quot;left&quot;:50.4,&quot;top&quot;:129.6,&quot;width&quot;:878.4}"/>
</p:tagLst>
</file>

<file path=ppt/tags/tag28.xml><?xml version="1.0" encoding="utf-8"?>
<p:tagLst xmlns:p="http://schemas.openxmlformats.org/presentationml/2006/main">
  <p:tag name="KSO_WM_DIAGRAM_VIRTUALLY_FRAME" val="{&quot;height&quot;:249.84,&quot;left&quot;:172.8,&quot;top&quot;:136.8,&quot;width&quot;:612}"/>
</p:tagLst>
</file>

<file path=ppt/tags/tag29.xml><?xml version="1.0" encoding="utf-8"?>
<p:tagLst xmlns:p="http://schemas.openxmlformats.org/presentationml/2006/main">
  <p:tag name="KSO_WM_DIAGRAM_VIRTUALLY_FRAME" val="{&quot;height&quot;:249.84,&quot;left&quot;:172.8,&quot;top&quot;:136.8,&quot;width&quot;:612}"/>
</p:tagLst>
</file>

<file path=ppt/tags/tag30.xml><?xml version="1.0" encoding="utf-8"?>
<p:tagLst xmlns:p="http://schemas.openxmlformats.org/presentationml/2006/main">
  <p:tag name="KSO_WM_DIAGRAM_VIRTUALLY_FRAME" val="{&quot;height&quot;:249.84,&quot;left&quot;:172.8,&quot;top&quot;:136.8,&quot;width&quot;:612}"/>
</p:tagLst>
</file>

<file path=ppt/tags/tag31.xml><?xml version="1.0" encoding="utf-8"?>
<p:tagLst xmlns:p="http://schemas.openxmlformats.org/presentationml/2006/main">
  <p:tag name="KSO_WM_DIAGRAM_VIRTUALLY_FRAME" val="{&quot;height&quot;:249.84,&quot;left&quot;:172.8,&quot;top&quot;:136.8,&quot;width&quot;:612}"/>
</p:tagLst>
</file>

<file path=ppt/tags/tag32.xml><?xml version="1.0" encoding="utf-8"?>
<p:tagLst xmlns:p="http://schemas.openxmlformats.org/presentationml/2006/main">
  <p:tag name="KSO_WM_DIAGRAM_VIRTUALLY_FRAME" val="{&quot;height&quot;:249.84,&quot;left&quot;:172.8,&quot;top&quot;:136.8,&quot;width&quot;:612}"/>
</p:tagLst>
</file>

<file path=ppt/tags/tag33.xml><?xml version="1.0" encoding="utf-8"?>
<p:tagLst xmlns:p="http://schemas.openxmlformats.org/presentationml/2006/main">
  <p:tag name="KSO_WM_DIAGRAM_VIRTUALLY_FRAME" val="{&quot;height&quot;:249.84,&quot;left&quot;:172.8,&quot;top&quot;:136.8,&quot;width&quot;:612}"/>
</p:tagLst>
</file>

<file path=ppt/tags/tag34.xml><?xml version="1.0" encoding="utf-8"?>
<p:tagLst xmlns:p="http://schemas.openxmlformats.org/presentationml/2006/main">
  <p:tag name="KSO_WM_DIAGRAM_VIRTUALLY_FRAME" val="{&quot;height&quot;:249.84,&quot;left&quot;:172.8,&quot;top&quot;:136.8,&quot;width&quot;:612}"/>
</p:tagLst>
</file>

<file path=ppt/tags/tag35.xml><?xml version="1.0" encoding="utf-8"?>
<p:tagLst xmlns:p="http://schemas.openxmlformats.org/presentationml/2006/main">
  <p:tag name="KSO_WM_DIAGRAM_VIRTUALLY_FRAME" val="{&quot;height&quot;:249.84,&quot;left&quot;:172.8,&quot;top&quot;:136.8,&quot;width&quot;:612}"/>
</p:tagLst>
</file>

<file path=ppt/tags/tag36.xml><?xml version="1.0" encoding="utf-8"?>
<p:tagLst xmlns:p="http://schemas.openxmlformats.org/presentationml/2006/main">
  <p:tag name="KSO_WM_DIAGRAM_VIRTUALLY_FRAME" val="{&quot;height&quot;:324,&quot;left&quot;:50.4,&quot;top&quot;:144,&quot;width&quot;:860.4}"/>
</p:tagLst>
</file>

<file path=ppt/tags/tag37.xml><?xml version="1.0" encoding="utf-8"?>
<p:tagLst xmlns:p="http://schemas.openxmlformats.org/presentationml/2006/main">
  <p:tag name="KSO_WM_DIAGRAM_VIRTUALLY_FRAME" val="{&quot;height&quot;:324,&quot;left&quot;:50.4,&quot;top&quot;:144,&quot;width&quot;:860.4}"/>
</p:tagLst>
</file>

<file path=ppt/tags/tag38.xml><?xml version="1.0" encoding="utf-8"?>
<p:tagLst xmlns:p="http://schemas.openxmlformats.org/presentationml/2006/main">
  <p:tag name="KSO_WM_DIAGRAM_VIRTUALLY_FRAME" val="{&quot;height&quot;:324,&quot;left&quot;:50.4,&quot;top&quot;:144,&quot;width&quot;:860.4}"/>
</p:tagLst>
</file>

<file path=ppt/tags/tag39.xml><?xml version="1.0" encoding="utf-8"?>
<p:tagLst xmlns:p="http://schemas.openxmlformats.org/presentationml/2006/main">
  <p:tag name="KSO_WM_DIAGRAM_VIRTUALLY_FRAME" val="{&quot;height&quot;:324,&quot;left&quot;:50.4,&quot;top&quot;:144,&quot;width&quot;:860.4}"/>
</p:tagLst>
</file>

<file path=ppt/tags/tag40.xml><?xml version="1.0" encoding="utf-8"?>
<p:tagLst xmlns:p="http://schemas.openxmlformats.org/presentationml/2006/main">
  <p:tag name="KSO_WM_DIAGRAM_VIRTUALLY_FRAME" val="{&quot;height&quot;:324,&quot;left&quot;:50.4,&quot;top&quot;:144,&quot;width&quot;:860.4}"/>
</p:tagLst>
</file>

<file path=ppt/tags/tag41.xml><?xml version="1.0" encoding="utf-8"?>
<p:tagLst xmlns:p="http://schemas.openxmlformats.org/presentationml/2006/main">
  <p:tag name="KSO_WM_DIAGRAM_VIRTUALLY_FRAME" val="{&quot;height&quot;:324,&quot;left&quot;:50.4,&quot;top&quot;:144,&quot;width&quot;:860.4}"/>
</p:tagLst>
</file>

<file path=ppt/tags/tag42.xml><?xml version="1.0" encoding="utf-8"?>
<p:tagLst xmlns:p="http://schemas.openxmlformats.org/presentationml/2006/main">
  <p:tag name="KSO_WM_DIAGRAM_VIRTUALLY_FRAME" val="{&quot;height&quot;:324,&quot;left&quot;:50.4,&quot;top&quot;:144,&quot;width&quot;:860.4}"/>
</p:tagLst>
</file>

<file path=ppt/tags/tag43.xml><?xml version="1.0" encoding="utf-8"?>
<p:tagLst xmlns:p="http://schemas.openxmlformats.org/presentationml/2006/main">
  <p:tag name="KSO_WM_DIAGRAM_VIRTUALLY_FRAME" val="{&quot;height&quot;:324,&quot;left&quot;:50.4,&quot;top&quot;:144,&quot;width&quot;:860.4}"/>
</p:tagLst>
</file>

<file path=ppt/tags/tag44.xml><?xml version="1.0" encoding="utf-8"?>
<p:tagLst xmlns:p="http://schemas.openxmlformats.org/presentationml/2006/main">
  <p:tag name="KSO_WM_DIAGRAM_VIRTUALLY_FRAME" val="{&quot;height&quot;:324,&quot;left&quot;:50.4,&quot;top&quot;:144,&quot;width&quot;:860.4}"/>
</p:tagLst>
</file>

<file path=ppt/tags/tag45.xml><?xml version="1.0" encoding="utf-8"?>
<p:tagLst xmlns:p="http://schemas.openxmlformats.org/presentationml/2006/main">
  <p:tag name="KSO_WM_DIAGRAM_VIRTUALLY_FRAME" val="{&quot;height&quot;:324,&quot;left&quot;:50.4,&quot;top&quot;:144,&quot;width&quot;:860.4}"/>
</p:tagLst>
</file>

<file path=ppt/tags/tag46.xml><?xml version="1.0" encoding="utf-8"?>
<p:tagLst xmlns:p="http://schemas.openxmlformats.org/presentationml/2006/main">
  <p:tag name="KSO_WM_DIAGRAM_VIRTUALLY_FRAME" val="{&quot;height&quot;:324,&quot;left&quot;:50.4,&quot;top&quot;:144,&quot;width&quot;:860.4}"/>
</p:tagLst>
</file>

<file path=ppt/tags/tag47.xml><?xml version="1.0" encoding="utf-8"?>
<p:tagLst xmlns:p="http://schemas.openxmlformats.org/presentationml/2006/main">
  <p:tag name="KSO_WM_DIAGRAM_VIRTUALLY_FRAME" val="{&quot;height&quot;:324,&quot;left&quot;:50.4,&quot;top&quot;:144,&quot;width&quot;:860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2723</Words>
  <Application>WPS Presentation</Application>
  <PresentationFormat>On-screen Show (16:9)</PresentationFormat>
  <Paragraphs>129</Paragraphs>
  <Slides>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ProgressFit</dc:title>
  <dc:creator>Angel David Alcantara Garabito</dc:creator>
  <dc:subject>PptxGenJS Presentation</dc:subject>
  <cp:lastModifiedBy>Angel D Alcantara G</cp:lastModifiedBy>
  <cp:revision>14</cp:revision>
  <dcterms:created xsi:type="dcterms:W3CDTF">2026-06-11T12:33:00Z</dcterms:created>
  <dcterms:modified xsi:type="dcterms:W3CDTF">2026-06-11T20:49:27Z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7FF89719BB1A4FBD977998313909E0E3_12</vt:lpwstr>
  </property>
  <property fmtid="{D5CDD505-2E9C-101B-9397-08002B2CF9AE}" pid="3" name="KSOProductBuildVer">
    <vt:lpwstr>3082-12.2.0.23155</vt:lpwstr>
  </property>
</Properties>
</file>