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handoutMasterIdLst>
    <p:handoutMasterId r:id="rId12"/>
  </p:handoutMasterIdLst>
  <p:sldIdLst>
    <p:sldId id="256" r:id="rId3"/>
    <p:sldId id="257" r:id="rId5"/>
    <p:sldId id="258" r:id="rId6"/>
    <p:sldId id="259" r:id="rId7"/>
    <p:sldId id="260" r:id="rId8"/>
    <p:sldId id="262" r:id="rId9"/>
    <p:sldId id="263" r:id="rId10"/>
    <p:sldId id="264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5" Type="http://schemas.openxmlformats.org/officeDocument/2006/relationships/tableStyles" Target="tableStyles.xml"/><Relationship Id="rId14" Type="http://schemas.openxmlformats.org/officeDocument/2006/relationships/viewProps" Target="viewProps.xml"/><Relationship Id="rId13" Type="http://schemas.openxmlformats.org/officeDocument/2006/relationships/presProps" Target="presProps.xml"/><Relationship Id="rId12" Type="http://schemas.openxmlformats.org/officeDocument/2006/relationships/handoutMaster" Target="handoutMasters/handoutMaster1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611717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611717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1EAB55A-B1F5-4627-ACB9-9CAF6953FE02}" type="datetimeFigureOut">
              <a:rPr lang="es-ES" smtClean="0"/>
            </a:fld>
            <a:endParaRPr lang="es-ES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2"/>
          </p:nvPr>
        </p:nvSpPr>
        <p:spPr>
          <a:xfrm>
            <a:off x="0" y="11580284"/>
            <a:ext cx="2971800" cy="611716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3"/>
          </p:nvPr>
        </p:nvSpPr>
        <p:spPr>
          <a:xfrm>
            <a:off x="3884613" y="11580284"/>
            <a:ext cx="2971800" cy="611716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1F36336-248E-4E59-AA31-B189D85868DF}" type="slidenum">
              <a:rPr lang="es-ES" smtClean="0"/>
            </a:fld>
            <a:endParaRPr lang="es-E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tags" Target="../tags/tag9.xml"/><Relationship Id="rId8" Type="http://schemas.openxmlformats.org/officeDocument/2006/relationships/tags" Target="../tags/tag8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0" Type="http://schemas.openxmlformats.org/officeDocument/2006/relationships/notesSlide" Target="../notesSlides/notesSlide3.xml"/><Relationship Id="rId2" Type="http://schemas.openxmlformats.org/officeDocument/2006/relationships/tags" Target="../tags/tag2.xml"/><Relationship Id="rId19" Type="http://schemas.openxmlformats.org/officeDocument/2006/relationships/slideLayout" Target="../slideLayouts/slideLayout1.xml"/><Relationship Id="rId18" Type="http://schemas.openxmlformats.org/officeDocument/2006/relationships/tags" Target="../tags/tag18.xml"/><Relationship Id="rId17" Type="http://schemas.openxmlformats.org/officeDocument/2006/relationships/tags" Target="../tags/tag17.xml"/><Relationship Id="rId16" Type="http://schemas.openxmlformats.org/officeDocument/2006/relationships/tags" Target="../tags/tag16.xml"/><Relationship Id="rId15" Type="http://schemas.openxmlformats.org/officeDocument/2006/relationships/tags" Target="../tags/tag15.xml"/><Relationship Id="rId14" Type="http://schemas.openxmlformats.org/officeDocument/2006/relationships/tags" Target="../tags/tag14.xml"/><Relationship Id="rId13" Type="http://schemas.openxmlformats.org/officeDocument/2006/relationships/tags" Target="../tags/tag13.xml"/><Relationship Id="rId12" Type="http://schemas.openxmlformats.org/officeDocument/2006/relationships/tags" Target="../tags/tag12.xml"/><Relationship Id="rId11" Type="http://schemas.openxmlformats.org/officeDocument/2006/relationships/tags" Target="../tags/tag11.xml"/><Relationship Id="rId10" Type="http://schemas.openxmlformats.org/officeDocument/2006/relationships/tags" Target="../tags/tag10.xml"/><Relationship Id="rId1" Type="http://schemas.openxmlformats.org/officeDocument/2006/relationships/tags" Target="../tags/tag1.xml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tags" Target="../tags/tag27.xml"/><Relationship Id="rId8" Type="http://schemas.openxmlformats.org/officeDocument/2006/relationships/tags" Target="../tags/tag26.xml"/><Relationship Id="rId7" Type="http://schemas.openxmlformats.org/officeDocument/2006/relationships/tags" Target="../tags/tag25.xml"/><Relationship Id="rId6" Type="http://schemas.openxmlformats.org/officeDocument/2006/relationships/tags" Target="../tags/tag24.xml"/><Relationship Id="rId5" Type="http://schemas.openxmlformats.org/officeDocument/2006/relationships/tags" Target="../tags/tag23.xml"/><Relationship Id="rId4" Type="http://schemas.openxmlformats.org/officeDocument/2006/relationships/tags" Target="../tags/tag22.xml"/><Relationship Id="rId3" Type="http://schemas.openxmlformats.org/officeDocument/2006/relationships/tags" Target="../tags/tag21.xml"/><Relationship Id="rId2" Type="http://schemas.openxmlformats.org/officeDocument/2006/relationships/tags" Target="../tags/tag20.xml"/><Relationship Id="rId11" Type="http://schemas.openxmlformats.org/officeDocument/2006/relationships/notesSlide" Target="../notesSlides/notesSlide4.xml"/><Relationship Id="rId10" Type="http://schemas.openxmlformats.org/officeDocument/2006/relationships/slideLayout" Target="../slideLayouts/slideLayout1.xml"/><Relationship Id="rId1" Type="http://schemas.openxmlformats.org/officeDocument/2006/relationships/tags" Target="../tags/tag19.xml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tags" Target="../tags/tag35.xml"/><Relationship Id="rId7" Type="http://schemas.openxmlformats.org/officeDocument/2006/relationships/tags" Target="../tags/tag34.xml"/><Relationship Id="rId6" Type="http://schemas.openxmlformats.org/officeDocument/2006/relationships/tags" Target="../tags/tag33.xml"/><Relationship Id="rId5" Type="http://schemas.openxmlformats.org/officeDocument/2006/relationships/tags" Target="../tags/tag32.xml"/><Relationship Id="rId4" Type="http://schemas.openxmlformats.org/officeDocument/2006/relationships/tags" Target="../tags/tag31.xml"/><Relationship Id="rId3" Type="http://schemas.openxmlformats.org/officeDocument/2006/relationships/tags" Target="../tags/tag30.xml"/><Relationship Id="rId2" Type="http://schemas.openxmlformats.org/officeDocument/2006/relationships/tags" Target="../tags/tag29.xml"/><Relationship Id="rId10" Type="http://schemas.openxmlformats.org/officeDocument/2006/relationships/notesSlide" Target="../notesSlides/notesSlide5.xml"/><Relationship Id="rId1" Type="http://schemas.openxmlformats.org/officeDocument/2006/relationships/tags" Target="../tags/tag28.xml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tags" Target="../tags/tag44.xml"/><Relationship Id="rId8" Type="http://schemas.openxmlformats.org/officeDocument/2006/relationships/tags" Target="../tags/tag43.xml"/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4" Type="http://schemas.openxmlformats.org/officeDocument/2006/relationships/notesSlide" Target="../notesSlides/notesSlide6.xml"/><Relationship Id="rId13" Type="http://schemas.openxmlformats.org/officeDocument/2006/relationships/slideLayout" Target="../slideLayouts/slideLayout1.xml"/><Relationship Id="rId12" Type="http://schemas.openxmlformats.org/officeDocument/2006/relationships/tags" Target="../tags/tag47.xml"/><Relationship Id="rId11" Type="http://schemas.openxmlformats.org/officeDocument/2006/relationships/tags" Target="../tags/tag46.xml"/><Relationship Id="rId10" Type="http://schemas.openxmlformats.org/officeDocument/2006/relationships/tags" Target="../tags/tag45.xml"/><Relationship Id="rId1" Type="http://schemas.openxmlformats.org/officeDocument/2006/relationships/tags" Target="../tags/tag3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194560"/>
            <a:ext cx="12161520" cy="10972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ProgressFit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914400" y="3383280"/>
            <a:ext cx="1033272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D9E1F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Aplicaci</a:t>
            </a:r>
            <a:r>
              <a:rPr lang="es-ES" altLang="en-US" sz="2000" dirty="0">
                <a:solidFill>
                  <a:srgbClr val="D9E1F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ó</a:t>
            </a:r>
            <a:r>
              <a:rPr lang="en-US" sz="2000" dirty="0">
                <a:solidFill>
                  <a:srgbClr val="D9E1F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 web para registrar entrenamientos y seguir tu progreso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914400" y="4206240"/>
            <a:ext cx="1033272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6E8BE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Proyecto Final 2 DAW  ·  Curso 2025/2026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5852160"/>
            <a:ext cx="1033272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" altLang="en-US" sz="1500" dirty="0">
                <a:solidFill>
                  <a:srgbClr val="9AA3B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Á</a:t>
            </a:r>
            <a:r>
              <a:rPr lang="en-US" sz="1500" dirty="0">
                <a:solidFill>
                  <a:srgbClr val="9AA3B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ngel David Alc</a:t>
            </a:r>
            <a:r>
              <a:rPr lang="es-ES" altLang="en-US" sz="1500" dirty="0">
                <a:solidFill>
                  <a:srgbClr val="9AA3B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á</a:t>
            </a:r>
            <a:r>
              <a:rPr lang="en-US" sz="1500" dirty="0">
                <a:solidFill>
                  <a:srgbClr val="9AA3B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ntara Garabito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6213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El problema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6035040" cy="36576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spcAft>
                <a:spcPts val="1400"/>
              </a:spcAft>
              <a:buNone/>
            </a:pPr>
            <a:r>
              <a:rPr lang="en-US" sz="1900" dirty="0">
                <a:solidFill>
                  <a:srgbClr val="3333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Quien entrena en el gimnasio necesita llevar un control de sus ejercicios, series, repeticiones y pesos para saber si progresa.</a:t>
            </a:r>
            <a:endParaRPr lang="en-US" sz="1900" dirty="0"/>
          </a:p>
          <a:p>
            <a:pPr marL="0" indent="0">
              <a:lnSpc>
                <a:spcPct val="110000"/>
              </a:lnSpc>
              <a:spcAft>
                <a:spcPts val="1400"/>
              </a:spcAft>
              <a:buNone/>
            </a:pPr>
            <a:r>
              <a:rPr lang="en-US" sz="1900" dirty="0">
                <a:solidFill>
                  <a:srgbClr val="3333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La mayor</a:t>
            </a:r>
            <a:r>
              <a:rPr lang="es-ES" altLang="en-US" sz="1900" dirty="0">
                <a:solidFill>
                  <a:srgbClr val="3333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í</a:t>
            </a:r>
            <a:r>
              <a:rPr lang="en-US" sz="1900" dirty="0">
                <a:solidFill>
                  <a:srgbClr val="3333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 lo apunta en una libreta de papel o en las notas del m</a:t>
            </a:r>
            <a:r>
              <a:rPr lang="es-ES" altLang="en-US" sz="1900" dirty="0">
                <a:solidFill>
                  <a:srgbClr val="3333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ó</a:t>
            </a:r>
            <a:r>
              <a:rPr lang="en-US" sz="1900" dirty="0">
                <a:solidFill>
                  <a:srgbClr val="3333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vil.</a:t>
            </a:r>
            <a:endParaRPr lang="en-US" sz="19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900" dirty="0">
                <a:solidFill>
                  <a:srgbClr val="3333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Es un m</a:t>
            </a:r>
            <a:r>
              <a:rPr lang="es-ES" altLang="en-US" sz="1900" dirty="0">
                <a:solidFill>
                  <a:srgbClr val="3333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é</a:t>
            </a:r>
            <a:r>
              <a:rPr lang="en-US" sz="1900" dirty="0">
                <a:solidFill>
                  <a:srgbClr val="3333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todo desordenado: la informaci</a:t>
            </a:r>
            <a:r>
              <a:rPr lang="es-ES" altLang="en-US" sz="1900" dirty="0">
                <a:solidFill>
                  <a:srgbClr val="3333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ó</a:t>
            </a:r>
            <a:r>
              <a:rPr lang="en-US" sz="1900" dirty="0">
                <a:solidFill>
                  <a:srgbClr val="3333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 queda dispersa, cuesta consultar el historial y es dif</a:t>
            </a:r>
            <a:r>
              <a:rPr lang="es-ES" altLang="en-US" sz="1900" dirty="0">
                <a:solidFill>
                  <a:srgbClr val="3333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í</a:t>
            </a:r>
            <a:r>
              <a:rPr lang="en-US" sz="1900" dirty="0">
                <a:solidFill>
                  <a:srgbClr val="3333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cil ver de un vistazo si se est</a:t>
            </a:r>
            <a:r>
              <a:rPr lang="es-ES" altLang="en-US" sz="1900" dirty="0">
                <a:solidFill>
                  <a:srgbClr val="3333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á</a:t>
            </a:r>
            <a:r>
              <a:rPr lang="en-US" sz="1900" dirty="0">
                <a:solidFill>
                  <a:srgbClr val="3333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mejorando.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7315200" y="1554480"/>
            <a:ext cx="4206240" cy="3657600"/>
          </a:xfrm>
          <a:prstGeom prst="roundRect">
            <a:avLst>
              <a:gd name="adj" fmla="val 3750"/>
            </a:avLst>
          </a:prstGeom>
          <a:solidFill>
            <a:srgbClr val="16213E"/>
          </a:solidFill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589520" y="1828800"/>
            <a:ext cx="36576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6E8BE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La idea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589520" y="2377440"/>
            <a:ext cx="3657600" cy="27432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Llevar ese cuaderno de entrenamiento al m</a:t>
            </a:r>
            <a:r>
              <a:rPr lang="es-ES" altLang="en-US" sz="17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ó</a:t>
            </a:r>
            <a:r>
              <a:rPr lang="en-US" sz="17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vil, pero convirtiendo los datos en informaci</a:t>
            </a:r>
            <a:r>
              <a:rPr lang="es-ES" altLang="en-US" sz="17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ó</a:t>
            </a:r>
            <a:r>
              <a:rPr lang="en-US" sz="17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 </a:t>
            </a:r>
            <a:r>
              <a:rPr lang="es-ES" altLang="en-US" sz="17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ú</a:t>
            </a:r>
            <a:r>
              <a:rPr lang="en-US" sz="17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til: gr</a:t>
            </a:r>
            <a:r>
              <a:rPr lang="es-ES" altLang="en-US" sz="17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áf</a:t>
            </a:r>
            <a:r>
              <a:rPr lang="en-US" sz="17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icas y estad</a:t>
            </a:r>
            <a:r>
              <a:rPr lang="es-ES" altLang="en-US" sz="17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í</a:t>
            </a:r>
            <a:r>
              <a:rPr lang="en-US" sz="17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sticas que muestran si mejoras.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6213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Qu</a:t>
            </a:r>
            <a:r>
              <a:rPr lang="es-ES" altLang="en-US" sz="4000" b="1" dirty="0">
                <a:solidFill>
                  <a:srgbClr val="16213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é</a:t>
            </a:r>
            <a:r>
              <a:rPr lang="en-US" sz="4000" b="1" dirty="0">
                <a:solidFill>
                  <a:srgbClr val="16213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es ProgressFit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1280160"/>
            <a:ext cx="105156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5555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Aplicaci</a:t>
            </a:r>
            <a:r>
              <a:rPr lang="es-ES" altLang="en-US" sz="1800" dirty="0">
                <a:solidFill>
                  <a:srgbClr val="5555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ó</a:t>
            </a:r>
            <a:r>
              <a:rPr lang="en-US" sz="1800" dirty="0">
                <a:solidFill>
                  <a:srgbClr val="5555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 web full-stack para registrar entrenamientos y seguir el progreso </a:t>
            </a:r>
            <a:r>
              <a:rPr lang="es-ES" altLang="en-US" sz="1800" dirty="0">
                <a:solidFill>
                  <a:srgbClr val="5555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</a:t>
            </a:r>
            <a:r>
              <a:rPr lang="en-US" sz="1800" dirty="0">
                <a:solidFill>
                  <a:srgbClr val="5555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ísico.</a:t>
            </a:r>
            <a:endParaRPr lang="en-US" sz="1800" dirty="0"/>
          </a:p>
        </p:txBody>
      </p:sp>
      <p:sp>
        <p:nvSpPr>
          <p:cNvPr id="4" name="Shape 2"/>
          <p:cNvSpPr/>
          <p:nvPr>
            <p:custDataLst>
              <p:tags r:id="rId1"/>
            </p:custDataLst>
          </p:nvPr>
        </p:nvSpPr>
        <p:spPr>
          <a:xfrm>
            <a:off x="640080" y="2011680"/>
            <a:ext cx="3502152" cy="1783080"/>
          </a:xfrm>
          <a:prstGeom prst="roundRect">
            <a:avLst>
              <a:gd name="adj" fmla="val 5128"/>
            </a:avLst>
          </a:prstGeom>
          <a:solidFill>
            <a:srgbClr val="1E2746"/>
          </a:solidFill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</p:sp>
      <p:sp>
        <p:nvSpPr>
          <p:cNvPr id="5" name="Text 3"/>
          <p:cNvSpPr/>
          <p:nvPr>
            <p:custDataLst>
              <p:tags r:id="rId2"/>
            </p:custDataLst>
          </p:nvPr>
        </p:nvSpPr>
        <p:spPr>
          <a:xfrm>
            <a:off x="868680" y="2194560"/>
            <a:ext cx="3044952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E8BE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Entrenamientos</a:t>
            </a:r>
            <a:endParaRPr lang="en-US" sz="1800" dirty="0"/>
          </a:p>
        </p:txBody>
      </p:sp>
      <p:sp>
        <p:nvSpPr>
          <p:cNvPr id="6" name="Text 4"/>
          <p:cNvSpPr/>
          <p:nvPr>
            <p:custDataLst>
              <p:tags r:id="rId3"/>
            </p:custDataLst>
          </p:nvPr>
        </p:nvSpPr>
        <p:spPr>
          <a:xfrm>
            <a:off x="868680" y="2697480"/>
            <a:ext cx="3044952" cy="9601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D9E1F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Crear sesiones con ejercicios, series, repeticiones, peso y RIR.</a:t>
            </a:r>
            <a:endParaRPr lang="en-US" sz="1450" dirty="0"/>
          </a:p>
        </p:txBody>
      </p:sp>
      <p:sp>
        <p:nvSpPr>
          <p:cNvPr id="7" name="Shape 5"/>
          <p:cNvSpPr/>
          <p:nvPr>
            <p:custDataLst>
              <p:tags r:id="rId4"/>
            </p:custDataLst>
          </p:nvPr>
        </p:nvSpPr>
        <p:spPr>
          <a:xfrm>
            <a:off x="4325112" y="2011680"/>
            <a:ext cx="3502152" cy="1783080"/>
          </a:xfrm>
          <a:prstGeom prst="roundRect">
            <a:avLst>
              <a:gd name="adj" fmla="val 5128"/>
            </a:avLst>
          </a:prstGeom>
          <a:solidFill>
            <a:srgbClr val="1E2746"/>
          </a:solidFill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>
            <p:custDataLst>
              <p:tags r:id="rId5"/>
            </p:custDataLst>
          </p:nvPr>
        </p:nvSpPr>
        <p:spPr>
          <a:xfrm>
            <a:off x="4553712" y="2194560"/>
            <a:ext cx="3044952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E8BE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Cat</a:t>
            </a:r>
            <a:r>
              <a:rPr lang="es-ES" altLang="en-US" sz="1800" b="1" dirty="0">
                <a:solidFill>
                  <a:srgbClr val="6E8BE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á</a:t>
            </a:r>
            <a:r>
              <a:rPr lang="en-US" sz="1800" b="1" dirty="0">
                <a:solidFill>
                  <a:srgbClr val="6E8BE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logo</a:t>
            </a:r>
            <a:endParaRPr lang="en-US" sz="1800" dirty="0"/>
          </a:p>
        </p:txBody>
      </p:sp>
      <p:sp>
        <p:nvSpPr>
          <p:cNvPr id="9" name="Text 7"/>
          <p:cNvSpPr/>
          <p:nvPr>
            <p:custDataLst>
              <p:tags r:id="rId6"/>
            </p:custDataLst>
          </p:nvPr>
        </p:nvSpPr>
        <p:spPr>
          <a:xfrm>
            <a:off x="4553712" y="2697480"/>
            <a:ext cx="3044952" cy="9601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D9E1F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Ejercicios organizados por grupos musculares.</a:t>
            </a:r>
            <a:endParaRPr lang="en-US" sz="1450" dirty="0"/>
          </a:p>
        </p:txBody>
      </p:sp>
      <p:sp>
        <p:nvSpPr>
          <p:cNvPr id="10" name="Shape 8"/>
          <p:cNvSpPr/>
          <p:nvPr>
            <p:custDataLst>
              <p:tags r:id="rId7"/>
            </p:custDataLst>
          </p:nvPr>
        </p:nvSpPr>
        <p:spPr>
          <a:xfrm>
            <a:off x="8010144" y="2011680"/>
            <a:ext cx="3502152" cy="1783080"/>
          </a:xfrm>
          <a:prstGeom prst="roundRect">
            <a:avLst>
              <a:gd name="adj" fmla="val 5128"/>
            </a:avLst>
          </a:prstGeom>
          <a:solidFill>
            <a:srgbClr val="1E2746"/>
          </a:solidFill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1" name="Text 9"/>
          <p:cNvSpPr/>
          <p:nvPr>
            <p:custDataLst>
              <p:tags r:id="rId8"/>
            </p:custDataLst>
          </p:nvPr>
        </p:nvSpPr>
        <p:spPr>
          <a:xfrm>
            <a:off x="8238744" y="2194560"/>
            <a:ext cx="3044952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E8BE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Peso corporal</a:t>
            </a:r>
            <a:endParaRPr lang="en-US" sz="1800" dirty="0"/>
          </a:p>
        </p:txBody>
      </p:sp>
      <p:sp>
        <p:nvSpPr>
          <p:cNvPr id="12" name="Text 10"/>
          <p:cNvSpPr/>
          <p:nvPr>
            <p:custDataLst>
              <p:tags r:id="rId9"/>
            </p:custDataLst>
          </p:nvPr>
        </p:nvSpPr>
        <p:spPr>
          <a:xfrm>
            <a:off x="8238744" y="2697480"/>
            <a:ext cx="3044952" cy="9601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D9E1F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Registro del peso a lo largo del tiempo.</a:t>
            </a:r>
            <a:endParaRPr lang="en-US" sz="1450" dirty="0"/>
          </a:p>
        </p:txBody>
      </p:sp>
      <p:sp>
        <p:nvSpPr>
          <p:cNvPr id="13" name="Shape 11"/>
          <p:cNvSpPr/>
          <p:nvPr>
            <p:custDataLst>
              <p:tags r:id="rId10"/>
            </p:custDataLst>
          </p:nvPr>
        </p:nvSpPr>
        <p:spPr>
          <a:xfrm>
            <a:off x="640080" y="4023360"/>
            <a:ext cx="3502152" cy="1783080"/>
          </a:xfrm>
          <a:prstGeom prst="roundRect">
            <a:avLst>
              <a:gd name="adj" fmla="val 5128"/>
            </a:avLst>
          </a:prstGeom>
          <a:solidFill>
            <a:srgbClr val="1E2746"/>
          </a:solidFill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4" name="Text 12"/>
          <p:cNvSpPr/>
          <p:nvPr>
            <p:custDataLst>
              <p:tags r:id="rId11"/>
            </p:custDataLst>
          </p:nvPr>
        </p:nvSpPr>
        <p:spPr>
          <a:xfrm>
            <a:off x="868680" y="4206240"/>
            <a:ext cx="3044952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E8BE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Progreso</a:t>
            </a:r>
            <a:endParaRPr lang="en-US" sz="1800" dirty="0"/>
          </a:p>
        </p:txBody>
      </p:sp>
      <p:sp>
        <p:nvSpPr>
          <p:cNvPr id="15" name="Text 13"/>
          <p:cNvSpPr/>
          <p:nvPr>
            <p:custDataLst>
              <p:tags r:id="rId12"/>
            </p:custDataLst>
          </p:nvPr>
        </p:nvSpPr>
        <p:spPr>
          <a:xfrm>
            <a:off x="868680" y="4709160"/>
            <a:ext cx="3044952" cy="9601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D9E1F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IMC, calorías diarias recomendadas y objetivo de peso.</a:t>
            </a:r>
            <a:endParaRPr lang="en-US" sz="1450" dirty="0"/>
          </a:p>
        </p:txBody>
      </p:sp>
      <p:sp>
        <p:nvSpPr>
          <p:cNvPr id="16" name="Shape 14"/>
          <p:cNvSpPr/>
          <p:nvPr>
            <p:custDataLst>
              <p:tags r:id="rId13"/>
            </p:custDataLst>
          </p:nvPr>
        </p:nvSpPr>
        <p:spPr>
          <a:xfrm>
            <a:off x="4325112" y="4023360"/>
            <a:ext cx="3502152" cy="1783080"/>
          </a:xfrm>
          <a:prstGeom prst="roundRect">
            <a:avLst>
              <a:gd name="adj" fmla="val 5128"/>
            </a:avLst>
          </a:prstGeom>
          <a:solidFill>
            <a:srgbClr val="1E2746"/>
          </a:solidFill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7" name="Text 15"/>
          <p:cNvSpPr/>
          <p:nvPr>
            <p:custDataLst>
              <p:tags r:id="rId14"/>
            </p:custDataLst>
          </p:nvPr>
        </p:nvSpPr>
        <p:spPr>
          <a:xfrm>
            <a:off x="4553712" y="4206240"/>
            <a:ext cx="3044952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E8BE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Estadisticas</a:t>
            </a:r>
            <a:endParaRPr lang="en-US" sz="1800" dirty="0"/>
          </a:p>
        </p:txBody>
      </p:sp>
      <p:sp>
        <p:nvSpPr>
          <p:cNvPr id="18" name="Text 16"/>
          <p:cNvSpPr/>
          <p:nvPr>
            <p:custDataLst>
              <p:tags r:id="rId15"/>
            </p:custDataLst>
          </p:nvPr>
        </p:nvSpPr>
        <p:spPr>
          <a:xfrm>
            <a:off x="4553712" y="4709160"/>
            <a:ext cx="3044952" cy="9601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D9E1F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Gráficas de evolución: peso, fuerza, frecuencia y valoración.</a:t>
            </a:r>
            <a:endParaRPr lang="en-US" sz="1450" dirty="0"/>
          </a:p>
        </p:txBody>
      </p:sp>
      <p:sp>
        <p:nvSpPr>
          <p:cNvPr id="19" name="Shape 17"/>
          <p:cNvSpPr/>
          <p:nvPr>
            <p:custDataLst>
              <p:tags r:id="rId16"/>
            </p:custDataLst>
          </p:nvPr>
        </p:nvSpPr>
        <p:spPr>
          <a:xfrm>
            <a:off x="8010144" y="4023360"/>
            <a:ext cx="3502152" cy="1783080"/>
          </a:xfrm>
          <a:prstGeom prst="roundRect">
            <a:avLst>
              <a:gd name="adj" fmla="val 5128"/>
            </a:avLst>
          </a:prstGeom>
          <a:solidFill>
            <a:srgbClr val="1E2746"/>
          </a:solidFill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0" name="Text 18"/>
          <p:cNvSpPr/>
          <p:nvPr>
            <p:custDataLst>
              <p:tags r:id="rId17"/>
            </p:custDataLst>
          </p:nvPr>
        </p:nvSpPr>
        <p:spPr>
          <a:xfrm>
            <a:off x="8238744" y="4206240"/>
            <a:ext cx="3044952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E8BE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Administración</a:t>
            </a:r>
            <a:endParaRPr lang="en-US" sz="1800" dirty="0"/>
          </a:p>
        </p:txBody>
      </p:sp>
      <p:sp>
        <p:nvSpPr>
          <p:cNvPr id="21" name="Text 19"/>
          <p:cNvSpPr/>
          <p:nvPr>
            <p:custDataLst>
              <p:tags r:id="rId18"/>
            </p:custDataLst>
          </p:nvPr>
        </p:nvSpPr>
        <p:spPr>
          <a:xfrm>
            <a:off x="8238744" y="4709160"/>
            <a:ext cx="3044952" cy="9601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D9E1F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Gestión de usuarios, músculos y ejercicios.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6213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Tecnologias</a:t>
            </a:r>
            <a:endParaRPr lang="en-US" sz="4000" dirty="0"/>
          </a:p>
        </p:txBody>
      </p:sp>
      <p:sp>
        <p:nvSpPr>
          <p:cNvPr id="3" name="Shape 1"/>
          <p:cNvSpPr/>
          <p:nvPr>
            <p:custDataLst>
              <p:tags r:id="rId1"/>
            </p:custDataLst>
          </p:nvPr>
        </p:nvSpPr>
        <p:spPr>
          <a:xfrm>
            <a:off x="640080" y="1645920"/>
            <a:ext cx="3566160" cy="4206240"/>
          </a:xfrm>
          <a:prstGeom prst="roundRect">
            <a:avLst>
              <a:gd name="adj" fmla="val 2564"/>
            </a:avLst>
          </a:prstGeom>
          <a:solidFill>
            <a:srgbClr val="1E2746"/>
          </a:solidFill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</p:sp>
      <p:sp>
        <p:nvSpPr>
          <p:cNvPr id="4" name="Text 2"/>
          <p:cNvSpPr/>
          <p:nvPr>
            <p:custDataLst>
              <p:tags r:id="rId2"/>
            </p:custDataLst>
          </p:nvPr>
        </p:nvSpPr>
        <p:spPr>
          <a:xfrm>
            <a:off x="914400" y="1920240"/>
            <a:ext cx="301752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6E8BE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FRONTEND</a:t>
            </a:r>
            <a:endParaRPr lang="en-US" sz="1900" dirty="0"/>
          </a:p>
        </p:txBody>
      </p:sp>
      <p:sp>
        <p:nvSpPr>
          <p:cNvPr id="5" name="Text 3"/>
          <p:cNvSpPr/>
          <p:nvPr>
            <p:custDataLst>
              <p:tags r:id="rId3"/>
            </p:custDataLst>
          </p:nvPr>
        </p:nvSpPr>
        <p:spPr>
          <a:xfrm>
            <a:off x="914400" y="2560320"/>
            <a:ext cx="3017520" cy="310896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D9E1F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React + Vite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D9E1F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React Router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D9E1F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Axios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D9E1F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Recharts (graficas)</a:t>
            </a:r>
            <a:endParaRPr lang="en-US" sz="1600" dirty="0"/>
          </a:p>
        </p:txBody>
      </p:sp>
      <p:sp>
        <p:nvSpPr>
          <p:cNvPr id="6" name="Shape 4"/>
          <p:cNvSpPr/>
          <p:nvPr>
            <p:custDataLst>
              <p:tags r:id="rId4"/>
            </p:custDataLst>
          </p:nvPr>
        </p:nvSpPr>
        <p:spPr>
          <a:xfrm>
            <a:off x="4434840" y="1645920"/>
            <a:ext cx="3566160" cy="4206240"/>
          </a:xfrm>
          <a:prstGeom prst="roundRect">
            <a:avLst>
              <a:gd name="adj" fmla="val 2564"/>
            </a:avLst>
          </a:prstGeom>
          <a:solidFill>
            <a:srgbClr val="1E2746"/>
          </a:solidFill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</p:sp>
      <p:sp>
        <p:nvSpPr>
          <p:cNvPr id="7" name="Text 5"/>
          <p:cNvSpPr/>
          <p:nvPr>
            <p:custDataLst>
              <p:tags r:id="rId5"/>
            </p:custDataLst>
          </p:nvPr>
        </p:nvSpPr>
        <p:spPr>
          <a:xfrm>
            <a:off x="4709160" y="1920240"/>
            <a:ext cx="301752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6E8BE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BACKEND</a:t>
            </a:r>
            <a:endParaRPr lang="en-US" sz="1900" dirty="0"/>
          </a:p>
        </p:txBody>
      </p:sp>
      <p:sp>
        <p:nvSpPr>
          <p:cNvPr id="8" name="Text 6"/>
          <p:cNvSpPr/>
          <p:nvPr>
            <p:custDataLst>
              <p:tags r:id="rId6"/>
            </p:custDataLst>
          </p:nvPr>
        </p:nvSpPr>
        <p:spPr>
          <a:xfrm>
            <a:off x="4709160" y="2560320"/>
            <a:ext cx="3017520" cy="310896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D9E1F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Java 17 + Spring Boot 3.5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D9E1F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Spring Security + JWT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D9E1F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Spring Data JPA / Hibernate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D9E1F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Maven + Lombok</a:t>
            </a:r>
            <a:endParaRPr lang="en-US" sz="1600" dirty="0"/>
          </a:p>
        </p:txBody>
      </p:sp>
      <p:sp>
        <p:nvSpPr>
          <p:cNvPr id="9" name="Shape 7"/>
          <p:cNvSpPr/>
          <p:nvPr>
            <p:custDataLst>
              <p:tags r:id="rId7"/>
            </p:custDataLst>
          </p:nvPr>
        </p:nvSpPr>
        <p:spPr>
          <a:xfrm>
            <a:off x="8229600" y="1645920"/>
            <a:ext cx="3566160" cy="4206240"/>
          </a:xfrm>
          <a:prstGeom prst="roundRect">
            <a:avLst>
              <a:gd name="adj" fmla="val 2564"/>
            </a:avLst>
          </a:prstGeom>
          <a:solidFill>
            <a:srgbClr val="1E2746"/>
          </a:solidFill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p>
            <a:endParaRPr lang="es-ES" altLang="en-US"/>
          </a:p>
        </p:txBody>
      </p:sp>
      <p:sp>
        <p:nvSpPr>
          <p:cNvPr id="10" name="Text 8"/>
          <p:cNvSpPr/>
          <p:nvPr>
            <p:custDataLst>
              <p:tags r:id="rId8"/>
            </p:custDataLst>
          </p:nvPr>
        </p:nvSpPr>
        <p:spPr>
          <a:xfrm>
            <a:off x="8503920" y="1920240"/>
            <a:ext cx="301752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6E8BE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DATOS</a:t>
            </a:r>
            <a:endParaRPr lang="en-US" sz="1900" dirty="0"/>
          </a:p>
        </p:txBody>
      </p:sp>
      <p:sp>
        <p:nvSpPr>
          <p:cNvPr id="11" name="Text 9"/>
          <p:cNvSpPr/>
          <p:nvPr>
            <p:custDataLst>
              <p:tags r:id="rId9"/>
            </p:custDataLst>
          </p:nvPr>
        </p:nvSpPr>
        <p:spPr>
          <a:xfrm>
            <a:off x="8503920" y="2560320"/>
            <a:ext cx="3017520" cy="310896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D9E1F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MySQL 8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D9E1F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Docker + Docker Compose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D9E1F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Nginx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D9E1F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Git y GitHub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6213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Arquitectura en 3 capas</a:t>
            </a:r>
            <a:endParaRPr lang="en-US" sz="4000" dirty="0"/>
          </a:p>
        </p:txBody>
      </p:sp>
      <p:sp>
        <p:nvSpPr>
          <p:cNvPr id="3" name="Shape 1"/>
          <p:cNvSpPr/>
          <p:nvPr>
            <p:custDataLst>
              <p:tags r:id="rId1"/>
            </p:custDataLst>
          </p:nvPr>
        </p:nvSpPr>
        <p:spPr>
          <a:xfrm>
            <a:off x="2194560" y="1737360"/>
            <a:ext cx="7772400" cy="1097280"/>
          </a:xfrm>
          <a:prstGeom prst="roundRect">
            <a:avLst>
              <a:gd name="adj" fmla="val 8333"/>
            </a:avLst>
          </a:prstGeom>
          <a:solidFill>
            <a:srgbClr val="3153B7"/>
          </a:solidFill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</p:sp>
      <p:sp>
        <p:nvSpPr>
          <p:cNvPr id="4" name="Text 2"/>
          <p:cNvSpPr/>
          <p:nvPr>
            <p:custDataLst>
              <p:tags r:id="rId2"/>
            </p:custDataLst>
          </p:nvPr>
        </p:nvSpPr>
        <p:spPr>
          <a:xfrm>
            <a:off x="2560320" y="1901952"/>
            <a:ext cx="704088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Frontend — React</a:t>
            </a:r>
            <a:endParaRPr lang="en-US" sz="1900" dirty="0"/>
          </a:p>
        </p:txBody>
      </p:sp>
      <p:sp>
        <p:nvSpPr>
          <p:cNvPr id="5" name="Text 3"/>
          <p:cNvSpPr/>
          <p:nvPr>
            <p:custDataLst>
              <p:tags r:id="rId3"/>
            </p:custDataLst>
          </p:nvPr>
        </p:nvSpPr>
        <p:spPr>
          <a:xfrm>
            <a:off x="2560320" y="2304288"/>
            <a:ext cx="704088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D9E1F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La interfaz que ve el usuario. No tiene lógica de negocio.</a:t>
            </a:r>
            <a:endParaRPr lang="en-US" sz="1450" dirty="0"/>
          </a:p>
        </p:txBody>
      </p:sp>
      <p:sp>
        <p:nvSpPr>
          <p:cNvPr id="6" name="Text 4"/>
          <p:cNvSpPr/>
          <p:nvPr>
            <p:custDataLst>
              <p:tags r:id="rId4"/>
            </p:custDataLst>
          </p:nvPr>
        </p:nvSpPr>
        <p:spPr>
          <a:xfrm>
            <a:off x="5806440" y="2852928"/>
            <a:ext cx="54864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9AA3B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v</a:t>
            </a:r>
            <a:endParaRPr lang="en-US" sz="2200" dirty="0"/>
          </a:p>
        </p:txBody>
      </p:sp>
      <p:sp>
        <p:nvSpPr>
          <p:cNvPr id="7" name="Shape 5"/>
          <p:cNvSpPr/>
          <p:nvPr>
            <p:custDataLst>
              <p:tags r:id="rId5"/>
            </p:custDataLst>
          </p:nvPr>
        </p:nvSpPr>
        <p:spPr>
          <a:xfrm>
            <a:off x="2194560" y="3337560"/>
            <a:ext cx="7772400" cy="1097280"/>
          </a:xfrm>
          <a:prstGeom prst="roundRect">
            <a:avLst>
              <a:gd name="adj" fmla="val 8333"/>
            </a:avLst>
          </a:prstGeom>
          <a:solidFill>
            <a:srgbClr val="2A4A9E"/>
          </a:solidFill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>
            <p:custDataLst>
              <p:tags r:id="rId6"/>
            </p:custDataLst>
          </p:nvPr>
        </p:nvSpPr>
        <p:spPr>
          <a:xfrm>
            <a:off x="2560320" y="3502152"/>
            <a:ext cx="704088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Backend — Spring Boot</a:t>
            </a:r>
            <a:endParaRPr lang="en-US" sz="1900" dirty="0"/>
          </a:p>
        </p:txBody>
      </p:sp>
      <p:sp>
        <p:nvSpPr>
          <p:cNvPr id="9" name="Text 7"/>
          <p:cNvSpPr/>
          <p:nvPr>
            <p:custDataLst>
              <p:tags r:id="rId7"/>
            </p:custDataLst>
          </p:nvPr>
        </p:nvSpPr>
        <p:spPr>
          <a:xfrm>
            <a:off x="2560320" y="3904488"/>
            <a:ext cx="704088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s-ES" altLang="en-US" sz="1450" dirty="0">
                <a:solidFill>
                  <a:srgbClr val="D9E1F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</a:t>
            </a:r>
            <a:r>
              <a:rPr lang="en-US" sz="1450" dirty="0">
                <a:solidFill>
                  <a:srgbClr val="D9E1F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ógica, seguridad (JWT) y API REST. Controladores, servicios y repositorios.</a:t>
            </a:r>
            <a:endParaRPr lang="en-US" sz="1450" dirty="0"/>
          </a:p>
        </p:txBody>
      </p:sp>
      <p:sp>
        <p:nvSpPr>
          <p:cNvPr id="10" name="Text 8"/>
          <p:cNvSpPr/>
          <p:nvPr>
            <p:custDataLst>
              <p:tags r:id="rId8"/>
            </p:custDataLst>
          </p:nvPr>
        </p:nvSpPr>
        <p:spPr>
          <a:xfrm>
            <a:off x="5806440" y="4453128"/>
            <a:ext cx="54864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9AA3B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v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2194560" y="4937760"/>
            <a:ext cx="7772400" cy="1097280"/>
          </a:xfrm>
          <a:prstGeom prst="roundRect">
            <a:avLst>
              <a:gd name="adj" fmla="val 8333"/>
            </a:avLst>
          </a:prstGeom>
          <a:solidFill>
            <a:srgbClr val="1E3470"/>
          </a:solidFill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560320" y="5102352"/>
            <a:ext cx="704088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Base de datos — MySQL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2560320" y="5504688"/>
            <a:ext cx="704088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D9E1F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Almacena toda la información de forma persistente.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40080" y="6126480"/>
            <a:ext cx="109728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i="1" dirty="0">
                <a:solidFill>
                  <a:srgbClr val="5555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Comunicación mediante API REST (JSON) y autenticación sin estado con tokens JWT.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6213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Pruebas y calidad</a:t>
            </a:r>
            <a:endParaRPr lang="en-US" sz="4000" dirty="0"/>
          </a:p>
        </p:txBody>
      </p:sp>
      <p:sp>
        <p:nvSpPr>
          <p:cNvPr id="3" name="Shape 1"/>
          <p:cNvSpPr/>
          <p:nvPr>
            <p:custDataLst>
              <p:tags r:id="rId1"/>
            </p:custDataLst>
          </p:nvPr>
        </p:nvSpPr>
        <p:spPr>
          <a:xfrm>
            <a:off x="640080" y="1828800"/>
            <a:ext cx="5349240" cy="1920240"/>
          </a:xfrm>
          <a:prstGeom prst="roundRect">
            <a:avLst>
              <a:gd name="adj" fmla="val 4762"/>
            </a:avLst>
          </a:prstGeom>
          <a:solidFill>
            <a:srgbClr val="1E2746"/>
          </a:solidFill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</p:sp>
      <p:sp>
        <p:nvSpPr>
          <p:cNvPr id="4" name="Text 2"/>
          <p:cNvSpPr/>
          <p:nvPr>
            <p:custDataLst>
              <p:tags r:id="rId2"/>
            </p:custDataLst>
          </p:nvPr>
        </p:nvSpPr>
        <p:spPr>
          <a:xfrm>
            <a:off x="914400" y="2057400"/>
            <a:ext cx="48006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6E8BE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Funcionales</a:t>
            </a:r>
            <a:endParaRPr lang="en-US" sz="1900" dirty="0"/>
          </a:p>
        </p:txBody>
      </p:sp>
      <p:sp>
        <p:nvSpPr>
          <p:cNvPr id="5" name="Text 3"/>
          <p:cNvSpPr/>
          <p:nvPr>
            <p:custDataLst>
              <p:tags r:id="rId3"/>
            </p:custDataLst>
          </p:nvPr>
        </p:nvSpPr>
        <p:spPr>
          <a:xfrm>
            <a:off x="914400" y="2606040"/>
            <a:ext cx="4800600" cy="9144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D9E1F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Pruebas manuales de todas las funciones, casos correctos y de error.</a:t>
            </a:r>
            <a:endParaRPr lang="en-US" sz="1550" dirty="0"/>
          </a:p>
        </p:txBody>
      </p:sp>
      <p:sp>
        <p:nvSpPr>
          <p:cNvPr id="6" name="Shape 4"/>
          <p:cNvSpPr/>
          <p:nvPr>
            <p:custDataLst>
              <p:tags r:id="rId4"/>
            </p:custDataLst>
          </p:nvPr>
        </p:nvSpPr>
        <p:spPr>
          <a:xfrm>
            <a:off x="6217920" y="1828800"/>
            <a:ext cx="5349240" cy="1920240"/>
          </a:xfrm>
          <a:prstGeom prst="roundRect">
            <a:avLst>
              <a:gd name="adj" fmla="val 4762"/>
            </a:avLst>
          </a:prstGeom>
          <a:solidFill>
            <a:srgbClr val="1E2746"/>
          </a:solidFill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</p:sp>
      <p:sp>
        <p:nvSpPr>
          <p:cNvPr id="7" name="Text 5"/>
          <p:cNvSpPr/>
          <p:nvPr>
            <p:custDataLst>
              <p:tags r:id="rId5"/>
            </p:custDataLst>
          </p:nvPr>
        </p:nvSpPr>
        <p:spPr>
          <a:xfrm>
            <a:off x="6492240" y="2057400"/>
            <a:ext cx="48006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6E8BE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Usabilidad</a:t>
            </a:r>
            <a:endParaRPr lang="en-US" sz="1900" dirty="0"/>
          </a:p>
        </p:txBody>
      </p:sp>
      <p:sp>
        <p:nvSpPr>
          <p:cNvPr id="8" name="Text 6"/>
          <p:cNvSpPr/>
          <p:nvPr>
            <p:custDataLst>
              <p:tags r:id="rId6"/>
            </p:custDataLst>
          </p:nvPr>
        </p:nvSpPr>
        <p:spPr>
          <a:xfrm>
            <a:off x="6492240" y="2606040"/>
            <a:ext cx="4800600" cy="9144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D9E1F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Probada por una usuaria real; su feedback llevó a rediseñar la interfaz.</a:t>
            </a:r>
            <a:endParaRPr lang="en-US" sz="1550" dirty="0"/>
          </a:p>
        </p:txBody>
      </p:sp>
      <p:sp>
        <p:nvSpPr>
          <p:cNvPr id="9" name="Shape 7"/>
          <p:cNvSpPr/>
          <p:nvPr>
            <p:custDataLst>
              <p:tags r:id="rId7"/>
            </p:custDataLst>
          </p:nvPr>
        </p:nvSpPr>
        <p:spPr>
          <a:xfrm>
            <a:off x="640080" y="4023360"/>
            <a:ext cx="5349240" cy="1920240"/>
          </a:xfrm>
          <a:prstGeom prst="roundRect">
            <a:avLst>
              <a:gd name="adj" fmla="val 4762"/>
            </a:avLst>
          </a:prstGeom>
          <a:solidFill>
            <a:srgbClr val="1E2746"/>
          </a:solidFill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/>
          <p:nvPr>
            <p:custDataLst>
              <p:tags r:id="rId8"/>
            </p:custDataLst>
          </p:nvPr>
        </p:nvSpPr>
        <p:spPr>
          <a:xfrm>
            <a:off x="914400" y="4251960"/>
            <a:ext cx="48006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6E8BE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Accesibilidad</a:t>
            </a:r>
            <a:endParaRPr lang="en-US" sz="1900" dirty="0"/>
          </a:p>
        </p:txBody>
      </p:sp>
      <p:sp>
        <p:nvSpPr>
          <p:cNvPr id="11" name="Text 9"/>
          <p:cNvSpPr/>
          <p:nvPr>
            <p:custDataLst>
              <p:tags r:id="rId9"/>
            </p:custDataLst>
          </p:nvPr>
        </p:nvSpPr>
        <p:spPr>
          <a:xfrm>
            <a:off x="914400" y="4800600"/>
            <a:ext cx="4800600" cy="9144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D9E1F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Lighthouse: 91/100. Mejoras detectadas en contraste y textos alternativos.</a:t>
            </a:r>
            <a:endParaRPr lang="en-US" sz="1550" dirty="0"/>
          </a:p>
        </p:txBody>
      </p:sp>
      <p:sp>
        <p:nvSpPr>
          <p:cNvPr id="12" name="Shape 10"/>
          <p:cNvSpPr/>
          <p:nvPr>
            <p:custDataLst>
              <p:tags r:id="rId10"/>
            </p:custDataLst>
          </p:nvPr>
        </p:nvSpPr>
        <p:spPr>
          <a:xfrm>
            <a:off x="6217920" y="4023360"/>
            <a:ext cx="5349240" cy="1920240"/>
          </a:xfrm>
          <a:prstGeom prst="roundRect">
            <a:avLst>
              <a:gd name="adj" fmla="val 4762"/>
            </a:avLst>
          </a:prstGeom>
          <a:solidFill>
            <a:srgbClr val="1E2746"/>
          </a:solidFill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3" name="Text 11"/>
          <p:cNvSpPr/>
          <p:nvPr>
            <p:custDataLst>
              <p:tags r:id="rId11"/>
            </p:custDataLst>
          </p:nvPr>
        </p:nvSpPr>
        <p:spPr>
          <a:xfrm>
            <a:off x="6492240" y="4251960"/>
            <a:ext cx="48006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6E8BE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Seguridad</a:t>
            </a:r>
            <a:endParaRPr lang="en-US" sz="1900" dirty="0"/>
          </a:p>
        </p:txBody>
      </p:sp>
      <p:sp>
        <p:nvSpPr>
          <p:cNvPr id="14" name="Text 12"/>
          <p:cNvSpPr/>
          <p:nvPr>
            <p:custDataLst>
              <p:tags r:id="rId12"/>
            </p:custDataLst>
          </p:nvPr>
        </p:nvSpPr>
        <p:spPr>
          <a:xfrm>
            <a:off x="6492240" y="4800600"/>
            <a:ext cx="4800600" cy="9144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D9E1F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Contraseñas cifradas con BCrypt y acceso por roles con JWT.</a:t>
            </a:r>
            <a:endParaRPr lang="en-US" sz="15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6213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Principales retos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10789920" cy="4572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3153B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información</a:t>
            </a:r>
            <a:endParaRPr lang="en-US" sz="1700" dirty="0"/>
          </a:p>
          <a:p>
            <a:pPr marL="0" indent="0">
              <a:lnSpc>
                <a:spcPct val="110000"/>
              </a:lnSpc>
              <a:spcAft>
                <a:spcPts val="1600"/>
              </a:spcAft>
              <a:buNone/>
            </a:pPr>
            <a:r>
              <a:rPr lang="en-US" sz="1700" dirty="0">
                <a:solidFill>
                  <a:srgbClr val="3333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Empecé con HTML, CSS y JS puro y migre todo el frontend a React. Supuso rehacer la interfaz, pero el backend no cambió gracias a la arquitectura en capas.</a:t>
            </a:r>
            <a:endParaRPr lang="en-US" sz="17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3153B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Borrado lógico</a:t>
            </a:r>
            <a:endParaRPr lang="en-US" sz="1700" dirty="0"/>
          </a:p>
          <a:p>
            <a:pPr marL="0" indent="0">
              <a:lnSpc>
                <a:spcPct val="110000"/>
              </a:lnSpc>
              <a:spcAft>
                <a:spcPts val="1600"/>
              </a:spcAft>
              <a:buNone/>
            </a:pPr>
            <a:r>
              <a:rPr lang="en-US" sz="1700" dirty="0">
                <a:solidFill>
                  <a:srgbClr val="3333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No se pueden borrar datos con relaciones sin perder el historial; se marcan como inactivos, como en apps reales.</a:t>
            </a:r>
            <a:endParaRPr lang="en-US" sz="17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3153B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Error de CORS</a:t>
            </a:r>
            <a:endParaRPr lang="en-US" sz="17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3333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Las peticiones se bloqueaban entre frontend y backend; se resolvió configurando los orígenes permitidos en Spring Security.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05840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Conclusiones y futuro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78992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D9E1F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Una aplicaci</a:t>
            </a:r>
            <a:r>
              <a:rPr lang="es-ES" altLang="en-US" sz="1800" dirty="0">
                <a:solidFill>
                  <a:srgbClr val="D9E1F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ó</a:t>
            </a:r>
            <a:r>
              <a:rPr lang="en-US" sz="1800" dirty="0">
                <a:solidFill>
                  <a:srgbClr val="D9E1F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 full-stack completa y funcional, desarrollada desde cero.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2194560"/>
            <a:ext cx="100584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6E8BE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Futuras ampliaciones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22960" y="2743200"/>
            <a:ext cx="10058400" cy="2286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Pruebas automatizadas con JUnit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Rol de entrenador funcional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Funciones sociales y rutinas predefinidas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Puesta en producción y app móvil (PWA)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0" y="5669280"/>
            <a:ext cx="1216152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Gracias</a:t>
            </a:r>
            <a:endParaRPr lang="en-US" sz="3200" dirty="0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298.8,&quot;left&quot;:50.4,&quot;top&quot;:158.4,&quot;width&quot;:856.0799999999999}"/>
</p:tagLst>
</file>

<file path=ppt/tags/tag2.xml><?xml version="1.0" encoding="utf-8"?>
<p:tagLst xmlns:p="http://schemas.openxmlformats.org/presentationml/2006/main">
  <p:tag name="KSO_WM_DIAGRAM_VIRTUALLY_FRAME" val="{&quot;height&quot;:298.8,&quot;left&quot;:50.4,&quot;top&quot;:158.4,&quot;width&quot;:856.0799999999999}"/>
</p:tagLst>
</file>

<file path=ppt/tags/tag3.xml><?xml version="1.0" encoding="utf-8"?>
<p:tagLst xmlns:p="http://schemas.openxmlformats.org/presentationml/2006/main">
  <p:tag name="KSO_WM_DIAGRAM_VIRTUALLY_FRAME" val="{&quot;height&quot;:298.8,&quot;left&quot;:50.4,&quot;top&quot;:158.4,&quot;width&quot;:856.0799999999999}"/>
</p:tagLst>
</file>

<file path=ppt/tags/tag4.xml><?xml version="1.0" encoding="utf-8"?>
<p:tagLst xmlns:p="http://schemas.openxmlformats.org/presentationml/2006/main">
  <p:tag name="KSO_WM_DIAGRAM_VIRTUALLY_FRAME" val="{&quot;height&quot;:298.8,&quot;left&quot;:50.4,&quot;top&quot;:158.4,&quot;width&quot;:856.0799999999999}"/>
</p:tagLst>
</file>

<file path=ppt/tags/tag5.xml><?xml version="1.0" encoding="utf-8"?>
<p:tagLst xmlns:p="http://schemas.openxmlformats.org/presentationml/2006/main">
  <p:tag name="KSO_WM_DIAGRAM_VIRTUALLY_FRAME" val="{&quot;height&quot;:298.8,&quot;left&quot;:50.4,&quot;top&quot;:158.4,&quot;width&quot;:856.0799999999999}"/>
</p:tagLst>
</file>

<file path=ppt/tags/tag6.xml><?xml version="1.0" encoding="utf-8"?>
<p:tagLst xmlns:p="http://schemas.openxmlformats.org/presentationml/2006/main">
  <p:tag name="KSO_WM_DIAGRAM_VIRTUALLY_FRAME" val="{&quot;height&quot;:298.8,&quot;left&quot;:50.4,&quot;top&quot;:158.4,&quot;width&quot;:856.0799999999999}"/>
</p:tagLst>
</file>

<file path=ppt/tags/tag7.xml><?xml version="1.0" encoding="utf-8"?>
<p:tagLst xmlns:p="http://schemas.openxmlformats.org/presentationml/2006/main">
  <p:tag name="KSO_WM_DIAGRAM_VIRTUALLY_FRAME" val="{&quot;height&quot;:298.8,&quot;left&quot;:50.4,&quot;top&quot;:158.4,&quot;width&quot;:856.0799999999999}"/>
</p:tagLst>
</file>

<file path=ppt/tags/tag8.xml><?xml version="1.0" encoding="utf-8"?>
<p:tagLst xmlns:p="http://schemas.openxmlformats.org/presentationml/2006/main">
  <p:tag name="KSO_WM_DIAGRAM_VIRTUALLY_FRAME" val="{&quot;height&quot;:298.8,&quot;left&quot;:50.4,&quot;top&quot;:158.4,&quot;width&quot;:856.0799999999999}"/>
</p:tagLst>
</file>

<file path=ppt/tags/tag9.xml><?xml version="1.0" encoding="utf-8"?>
<p:tagLst xmlns:p="http://schemas.openxmlformats.org/presentationml/2006/main">
  <p:tag name="KSO_WM_DIAGRAM_VIRTUALLY_FRAME" val="{&quot;height&quot;:298.8,&quot;left&quot;:50.4,&quot;top&quot;:158.4,&quot;width&quot;:856.0799999999999}"/>
</p:tagLst>
</file>

<file path=ppt/tags/tag10.xml><?xml version="1.0" encoding="utf-8"?>
<p:tagLst xmlns:p="http://schemas.openxmlformats.org/presentationml/2006/main">
  <p:tag name="KSO_WM_DIAGRAM_VIRTUALLY_FRAME" val="{&quot;height&quot;:298.8,&quot;left&quot;:50.4,&quot;top&quot;:158.4,&quot;width&quot;:856.0799999999999}"/>
</p:tagLst>
</file>

<file path=ppt/tags/tag11.xml><?xml version="1.0" encoding="utf-8"?>
<p:tagLst xmlns:p="http://schemas.openxmlformats.org/presentationml/2006/main">
  <p:tag name="KSO_WM_DIAGRAM_VIRTUALLY_FRAME" val="{&quot;height&quot;:298.8,&quot;left&quot;:50.4,&quot;top&quot;:158.4,&quot;width&quot;:856.0799999999999}"/>
</p:tagLst>
</file>

<file path=ppt/tags/tag12.xml><?xml version="1.0" encoding="utf-8"?>
<p:tagLst xmlns:p="http://schemas.openxmlformats.org/presentationml/2006/main">
  <p:tag name="KSO_WM_DIAGRAM_VIRTUALLY_FRAME" val="{&quot;height&quot;:298.8,&quot;left&quot;:50.4,&quot;top&quot;:158.4,&quot;width&quot;:856.0799999999999}"/>
</p:tagLst>
</file>

<file path=ppt/tags/tag13.xml><?xml version="1.0" encoding="utf-8"?>
<p:tagLst xmlns:p="http://schemas.openxmlformats.org/presentationml/2006/main">
  <p:tag name="KSO_WM_DIAGRAM_VIRTUALLY_FRAME" val="{&quot;height&quot;:298.8,&quot;left&quot;:50.4,&quot;top&quot;:158.4,&quot;width&quot;:856.0799999999999}"/>
</p:tagLst>
</file>

<file path=ppt/tags/tag14.xml><?xml version="1.0" encoding="utf-8"?>
<p:tagLst xmlns:p="http://schemas.openxmlformats.org/presentationml/2006/main">
  <p:tag name="KSO_WM_DIAGRAM_VIRTUALLY_FRAME" val="{&quot;height&quot;:298.8,&quot;left&quot;:50.4,&quot;top&quot;:158.4,&quot;width&quot;:856.0799999999999}"/>
</p:tagLst>
</file>

<file path=ppt/tags/tag15.xml><?xml version="1.0" encoding="utf-8"?>
<p:tagLst xmlns:p="http://schemas.openxmlformats.org/presentationml/2006/main">
  <p:tag name="KSO_WM_DIAGRAM_VIRTUALLY_FRAME" val="{&quot;height&quot;:298.8,&quot;left&quot;:50.4,&quot;top&quot;:158.4,&quot;width&quot;:856.0799999999999}"/>
</p:tagLst>
</file>

<file path=ppt/tags/tag16.xml><?xml version="1.0" encoding="utf-8"?>
<p:tagLst xmlns:p="http://schemas.openxmlformats.org/presentationml/2006/main">
  <p:tag name="KSO_WM_DIAGRAM_VIRTUALLY_FRAME" val="{&quot;height&quot;:298.8,&quot;left&quot;:50.4,&quot;top&quot;:158.4,&quot;width&quot;:856.0799999999999}"/>
</p:tagLst>
</file>

<file path=ppt/tags/tag17.xml><?xml version="1.0" encoding="utf-8"?>
<p:tagLst xmlns:p="http://schemas.openxmlformats.org/presentationml/2006/main">
  <p:tag name="KSO_WM_DIAGRAM_VIRTUALLY_FRAME" val="{&quot;height&quot;:298.8,&quot;left&quot;:50.4,&quot;top&quot;:158.4,&quot;width&quot;:856.0799999999999}"/>
</p:tagLst>
</file>

<file path=ppt/tags/tag18.xml><?xml version="1.0" encoding="utf-8"?>
<p:tagLst xmlns:p="http://schemas.openxmlformats.org/presentationml/2006/main">
  <p:tag name="KSO_WM_DIAGRAM_VIRTUALLY_FRAME" val="{&quot;height&quot;:298.8,&quot;left&quot;:50.4,&quot;top&quot;:158.4,&quot;width&quot;:856.0799999999999}"/>
</p:tagLst>
</file>

<file path=ppt/tags/tag19.xml><?xml version="1.0" encoding="utf-8"?>
<p:tagLst xmlns:p="http://schemas.openxmlformats.org/presentationml/2006/main">
  <p:tag name="KSO_WM_DIAGRAM_VIRTUALLY_FRAME" val="{&quot;height&quot;:331.2,&quot;left&quot;:50.4,&quot;top&quot;:129.6,&quot;width&quot;:878.4}"/>
</p:tagLst>
</file>

<file path=ppt/tags/tag20.xml><?xml version="1.0" encoding="utf-8"?>
<p:tagLst xmlns:p="http://schemas.openxmlformats.org/presentationml/2006/main">
  <p:tag name="KSO_WM_DIAGRAM_VIRTUALLY_FRAME" val="{&quot;height&quot;:331.2,&quot;left&quot;:50.4,&quot;top&quot;:129.6,&quot;width&quot;:878.4}"/>
</p:tagLst>
</file>

<file path=ppt/tags/tag21.xml><?xml version="1.0" encoding="utf-8"?>
<p:tagLst xmlns:p="http://schemas.openxmlformats.org/presentationml/2006/main">
  <p:tag name="KSO_WM_DIAGRAM_VIRTUALLY_FRAME" val="{&quot;height&quot;:331.2,&quot;left&quot;:50.4,&quot;top&quot;:129.6,&quot;width&quot;:878.4}"/>
</p:tagLst>
</file>

<file path=ppt/tags/tag22.xml><?xml version="1.0" encoding="utf-8"?>
<p:tagLst xmlns:p="http://schemas.openxmlformats.org/presentationml/2006/main">
  <p:tag name="KSO_WM_DIAGRAM_VIRTUALLY_FRAME" val="{&quot;height&quot;:331.2,&quot;left&quot;:50.4,&quot;top&quot;:129.6,&quot;width&quot;:878.4}"/>
</p:tagLst>
</file>

<file path=ppt/tags/tag23.xml><?xml version="1.0" encoding="utf-8"?>
<p:tagLst xmlns:p="http://schemas.openxmlformats.org/presentationml/2006/main">
  <p:tag name="KSO_WM_DIAGRAM_VIRTUALLY_FRAME" val="{&quot;height&quot;:331.2,&quot;left&quot;:50.4,&quot;top&quot;:129.6,&quot;width&quot;:878.4}"/>
</p:tagLst>
</file>

<file path=ppt/tags/tag24.xml><?xml version="1.0" encoding="utf-8"?>
<p:tagLst xmlns:p="http://schemas.openxmlformats.org/presentationml/2006/main">
  <p:tag name="KSO_WM_DIAGRAM_VIRTUALLY_FRAME" val="{&quot;height&quot;:331.2,&quot;left&quot;:50.4,&quot;top&quot;:129.6,&quot;width&quot;:878.4}"/>
</p:tagLst>
</file>

<file path=ppt/tags/tag25.xml><?xml version="1.0" encoding="utf-8"?>
<p:tagLst xmlns:p="http://schemas.openxmlformats.org/presentationml/2006/main">
  <p:tag name="KSO_WM_DIAGRAM_VIRTUALLY_FRAME" val="{&quot;height&quot;:331.2,&quot;left&quot;:50.4,&quot;top&quot;:129.6,&quot;width&quot;:878.4}"/>
</p:tagLst>
</file>

<file path=ppt/tags/tag26.xml><?xml version="1.0" encoding="utf-8"?>
<p:tagLst xmlns:p="http://schemas.openxmlformats.org/presentationml/2006/main">
  <p:tag name="KSO_WM_DIAGRAM_VIRTUALLY_FRAME" val="{&quot;height&quot;:331.2,&quot;left&quot;:50.4,&quot;top&quot;:129.6,&quot;width&quot;:878.4}"/>
</p:tagLst>
</file>

<file path=ppt/tags/tag27.xml><?xml version="1.0" encoding="utf-8"?>
<p:tagLst xmlns:p="http://schemas.openxmlformats.org/presentationml/2006/main">
  <p:tag name="KSO_WM_DIAGRAM_VIRTUALLY_FRAME" val="{&quot;height&quot;:331.2,&quot;left&quot;:50.4,&quot;top&quot;:129.6,&quot;width&quot;:878.4}"/>
</p:tagLst>
</file>

<file path=ppt/tags/tag28.xml><?xml version="1.0" encoding="utf-8"?>
<p:tagLst xmlns:p="http://schemas.openxmlformats.org/presentationml/2006/main">
  <p:tag name="KSO_WM_DIAGRAM_VIRTUALLY_FRAME" val="{&quot;height&quot;:249.83999999999997,&quot;left&quot;:172.8,&quot;top&quot;:136.8,&quot;width&quot;:612}"/>
</p:tagLst>
</file>

<file path=ppt/tags/tag29.xml><?xml version="1.0" encoding="utf-8"?>
<p:tagLst xmlns:p="http://schemas.openxmlformats.org/presentationml/2006/main">
  <p:tag name="KSO_WM_DIAGRAM_VIRTUALLY_FRAME" val="{&quot;height&quot;:249.83999999999997,&quot;left&quot;:172.8,&quot;top&quot;:136.8,&quot;width&quot;:612}"/>
</p:tagLst>
</file>

<file path=ppt/tags/tag30.xml><?xml version="1.0" encoding="utf-8"?>
<p:tagLst xmlns:p="http://schemas.openxmlformats.org/presentationml/2006/main">
  <p:tag name="KSO_WM_DIAGRAM_VIRTUALLY_FRAME" val="{&quot;height&quot;:249.83999999999997,&quot;left&quot;:172.8,&quot;top&quot;:136.8,&quot;width&quot;:612}"/>
</p:tagLst>
</file>

<file path=ppt/tags/tag31.xml><?xml version="1.0" encoding="utf-8"?>
<p:tagLst xmlns:p="http://schemas.openxmlformats.org/presentationml/2006/main">
  <p:tag name="KSO_WM_DIAGRAM_VIRTUALLY_FRAME" val="{&quot;height&quot;:249.83999999999997,&quot;left&quot;:172.8,&quot;top&quot;:136.8,&quot;width&quot;:612}"/>
</p:tagLst>
</file>

<file path=ppt/tags/tag32.xml><?xml version="1.0" encoding="utf-8"?>
<p:tagLst xmlns:p="http://schemas.openxmlformats.org/presentationml/2006/main">
  <p:tag name="KSO_WM_DIAGRAM_VIRTUALLY_FRAME" val="{&quot;height&quot;:249.83999999999997,&quot;left&quot;:172.8,&quot;top&quot;:136.8,&quot;width&quot;:612}"/>
</p:tagLst>
</file>

<file path=ppt/tags/tag33.xml><?xml version="1.0" encoding="utf-8"?>
<p:tagLst xmlns:p="http://schemas.openxmlformats.org/presentationml/2006/main">
  <p:tag name="KSO_WM_DIAGRAM_VIRTUALLY_FRAME" val="{&quot;height&quot;:249.83999999999997,&quot;left&quot;:172.8,&quot;top&quot;:136.8,&quot;width&quot;:612}"/>
</p:tagLst>
</file>

<file path=ppt/tags/tag34.xml><?xml version="1.0" encoding="utf-8"?>
<p:tagLst xmlns:p="http://schemas.openxmlformats.org/presentationml/2006/main">
  <p:tag name="KSO_WM_DIAGRAM_VIRTUALLY_FRAME" val="{&quot;height&quot;:249.83999999999997,&quot;left&quot;:172.8,&quot;top&quot;:136.8,&quot;width&quot;:612}"/>
</p:tagLst>
</file>

<file path=ppt/tags/tag35.xml><?xml version="1.0" encoding="utf-8"?>
<p:tagLst xmlns:p="http://schemas.openxmlformats.org/presentationml/2006/main">
  <p:tag name="KSO_WM_DIAGRAM_VIRTUALLY_FRAME" val="{&quot;height&quot;:249.83999999999997,&quot;left&quot;:172.8,&quot;top&quot;:136.8,&quot;width&quot;:612}"/>
</p:tagLst>
</file>

<file path=ppt/tags/tag36.xml><?xml version="1.0" encoding="utf-8"?>
<p:tagLst xmlns:p="http://schemas.openxmlformats.org/presentationml/2006/main">
  <p:tag name="KSO_WM_DIAGRAM_VIRTUALLY_FRAME" val="{&quot;height&quot;:324,&quot;left&quot;:50.4,&quot;top&quot;:144,&quot;width&quot;:860.4}"/>
</p:tagLst>
</file>

<file path=ppt/tags/tag37.xml><?xml version="1.0" encoding="utf-8"?>
<p:tagLst xmlns:p="http://schemas.openxmlformats.org/presentationml/2006/main">
  <p:tag name="KSO_WM_DIAGRAM_VIRTUALLY_FRAME" val="{&quot;height&quot;:324,&quot;left&quot;:50.4,&quot;top&quot;:144,&quot;width&quot;:860.4}"/>
</p:tagLst>
</file>

<file path=ppt/tags/tag38.xml><?xml version="1.0" encoding="utf-8"?>
<p:tagLst xmlns:p="http://schemas.openxmlformats.org/presentationml/2006/main">
  <p:tag name="KSO_WM_DIAGRAM_VIRTUALLY_FRAME" val="{&quot;height&quot;:324,&quot;left&quot;:50.4,&quot;top&quot;:144,&quot;width&quot;:860.4}"/>
</p:tagLst>
</file>

<file path=ppt/tags/tag39.xml><?xml version="1.0" encoding="utf-8"?>
<p:tagLst xmlns:p="http://schemas.openxmlformats.org/presentationml/2006/main">
  <p:tag name="KSO_WM_DIAGRAM_VIRTUALLY_FRAME" val="{&quot;height&quot;:324,&quot;left&quot;:50.4,&quot;top&quot;:144,&quot;width&quot;:860.4}"/>
</p:tagLst>
</file>

<file path=ppt/tags/tag40.xml><?xml version="1.0" encoding="utf-8"?>
<p:tagLst xmlns:p="http://schemas.openxmlformats.org/presentationml/2006/main">
  <p:tag name="KSO_WM_DIAGRAM_VIRTUALLY_FRAME" val="{&quot;height&quot;:324,&quot;left&quot;:50.4,&quot;top&quot;:144,&quot;width&quot;:860.4}"/>
</p:tagLst>
</file>

<file path=ppt/tags/tag41.xml><?xml version="1.0" encoding="utf-8"?>
<p:tagLst xmlns:p="http://schemas.openxmlformats.org/presentationml/2006/main">
  <p:tag name="KSO_WM_DIAGRAM_VIRTUALLY_FRAME" val="{&quot;height&quot;:324,&quot;left&quot;:50.4,&quot;top&quot;:144,&quot;width&quot;:860.4}"/>
</p:tagLst>
</file>

<file path=ppt/tags/tag42.xml><?xml version="1.0" encoding="utf-8"?>
<p:tagLst xmlns:p="http://schemas.openxmlformats.org/presentationml/2006/main">
  <p:tag name="KSO_WM_DIAGRAM_VIRTUALLY_FRAME" val="{&quot;height&quot;:324,&quot;left&quot;:50.4,&quot;top&quot;:144,&quot;width&quot;:860.4}"/>
</p:tagLst>
</file>

<file path=ppt/tags/tag43.xml><?xml version="1.0" encoding="utf-8"?>
<p:tagLst xmlns:p="http://schemas.openxmlformats.org/presentationml/2006/main">
  <p:tag name="KSO_WM_DIAGRAM_VIRTUALLY_FRAME" val="{&quot;height&quot;:324,&quot;left&quot;:50.4,&quot;top&quot;:144,&quot;width&quot;:860.4}"/>
</p:tagLst>
</file>

<file path=ppt/tags/tag44.xml><?xml version="1.0" encoding="utf-8"?>
<p:tagLst xmlns:p="http://schemas.openxmlformats.org/presentationml/2006/main">
  <p:tag name="KSO_WM_DIAGRAM_VIRTUALLY_FRAME" val="{&quot;height&quot;:324,&quot;left&quot;:50.4,&quot;top&quot;:144,&quot;width&quot;:860.4}"/>
</p:tagLst>
</file>

<file path=ppt/tags/tag45.xml><?xml version="1.0" encoding="utf-8"?>
<p:tagLst xmlns:p="http://schemas.openxmlformats.org/presentationml/2006/main">
  <p:tag name="KSO_WM_DIAGRAM_VIRTUALLY_FRAME" val="{&quot;height&quot;:324,&quot;left&quot;:50.4,&quot;top&quot;:144,&quot;width&quot;:860.4}"/>
</p:tagLst>
</file>

<file path=ppt/tags/tag46.xml><?xml version="1.0" encoding="utf-8"?>
<p:tagLst xmlns:p="http://schemas.openxmlformats.org/presentationml/2006/main">
  <p:tag name="KSO_WM_DIAGRAM_VIRTUALLY_FRAME" val="{&quot;height&quot;:324,&quot;left&quot;:50.4,&quot;top&quot;:144,&quot;width&quot;:860.4}"/>
</p:tagLst>
</file>

<file path=ppt/tags/tag47.xml><?xml version="1.0" encoding="utf-8"?>
<p:tagLst xmlns:p="http://schemas.openxmlformats.org/presentationml/2006/main">
  <p:tag name="KSO_WM_DIAGRAM_VIRTUALLY_FRAME" val="{&quot;height&quot;:324,&quot;left&quot;:50.4,&quot;top&quot;:144,&quot;width&quot;:860.4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2716</Words>
  <Application>WPS Presentation</Application>
  <PresentationFormat>On-screen Show (16:9)</PresentationFormat>
  <Paragraphs>129</Paragraphs>
  <Slides>8</Slides>
  <Notes>9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17" baseType="lpstr">
      <vt:lpstr>Arial</vt:lpstr>
      <vt:lpstr>SimSun</vt:lpstr>
      <vt:lpstr>Wingdings</vt:lpstr>
      <vt:lpstr>Calibri</vt:lpstr>
      <vt:lpstr>Calibri</vt:lpstr>
      <vt:lpstr>Calibri</vt:lpstr>
      <vt:lpstr>Microsoft YaHei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ProgressFit</dc:title>
  <dc:creator>Angel David Alcantara Garabito</dc:creator>
  <dc:subject>PptxGenJS Presentation</dc:subject>
  <cp:lastModifiedBy>Angel D Alcantara G</cp:lastModifiedBy>
  <cp:revision>11</cp:revision>
  <dcterms:created xsi:type="dcterms:W3CDTF">2026-06-11T12:33:00Z</dcterms:created>
  <dcterms:modified xsi:type="dcterms:W3CDTF">2026-06-11T20:38:19Z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7FF89719BB1A4FBD977998313909E0E3_12</vt:lpwstr>
  </property>
  <property fmtid="{D5CDD505-2E9C-101B-9397-08002B2CF9AE}" pid="3" name="KSOProductBuildVer">
    <vt:lpwstr>3082-12.2.0.23155</vt:lpwstr>
  </property>
</Properties>
</file>